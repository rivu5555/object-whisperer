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Garet Bold" charset="1" panose="00000000000000000000"/>
      <p:regular r:id="rId20"/>
    </p:embeddedFont>
    <p:embeddedFont>
      <p:font typeface="Ovo" charset="1" panose="02020502070400060406"/>
      <p:regular r:id="rId21"/>
    </p:embeddedFont>
    <p:embeddedFont>
      <p:font typeface="Noto Serif Ethiopic Condensed" charset="1" panose="02020502060505020204"/>
      <p:regular r:id="rId22"/>
    </p:embeddedFont>
    <p:embeddedFont>
      <p:font typeface="Bukhari Script" charset="1" panose="000005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VAG8_Rv1AAw.mp4" Type="http://schemas.openxmlformats.org/officeDocument/2006/relationships/video"/><Relationship Id="rId4" Target="../media/VAG8_Rv1AAw.mp4" Type="http://schemas.microsoft.com/office/2007/relationships/media"/></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1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2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2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2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svg" Type="http://schemas.openxmlformats.org/officeDocument/2006/relationships/image"/><Relationship Id="rId2" Target="../media/image23.png" Type="http://schemas.openxmlformats.org/officeDocument/2006/relationships/image"/><Relationship Id="rId3" Target="../media/image24.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27.png" Type="http://schemas.openxmlformats.org/officeDocument/2006/relationships/image"/><Relationship Id="rId9" Target="../media/image2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30.jpeg" Type="http://schemas.openxmlformats.org/officeDocument/2006/relationships/image"/><Relationship Id="rId9" Target="../media/image3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32.png" Type="http://schemas.openxmlformats.org/officeDocument/2006/relationships/image"/><Relationship Id="rId9" Target="../media/image3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34.png" Type="http://schemas.openxmlformats.org/officeDocument/2006/relationships/image"/><Relationship Id="rId9" Target="../media/image3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8.pn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36.png" Type="http://schemas.openxmlformats.org/officeDocument/2006/relationships/image"/><Relationship Id="rId9" Target="../media/image3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3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6102765" y="-6559434"/>
            <a:ext cx="7713731" cy="7713700"/>
          </a:xfrm>
          <a:custGeom>
            <a:avLst/>
            <a:gdLst/>
            <a:ahLst/>
            <a:cxnLst/>
            <a:rect r="r" b="b" t="t" l="l"/>
            <a:pathLst>
              <a:path h="7713700" w="7713731">
                <a:moveTo>
                  <a:pt x="0" y="0"/>
                </a:moveTo>
                <a:lnTo>
                  <a:pt x="7713730" y="0"/>
                </a:lnTo>
                <a:lnTo>
                  <a:pt x="7713730" y="7713699"/>
                </a:lnTo>
                <a:lnTo>
                  <a:pt x="0" y="77136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951932" y="13308"/>
            <a:ext cx="16451802" cy="15225476"/>
          </a:xfrm>
          <a:custGeom>
            <a:avLst/>
            <a:gdLst/>
            <a:ahLst/>
            <a:cxnLst/>
            <a:rect r="r" b="b" t="t" l="l"/>
            <a:pathLst>
              <a:path h="15225476" w="16451802">
                <a:moveTo>
                  <a:pt x="0" y="0"/>
                </a:moveTo>
                <a:lnTo>
                  <a:pt x="16451802" y="0"/>
                </a:lnTo>
                <a:lnTo>
                  <a:pt x="16451802" y="15225476"/>
                </a:lnTo>
                <a:lnTo>
                  <a:pt x="0" y="152254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0197646" y="317163"/>
            <a:ext cx="7222293" cy="7222293"/>
            <a:chOff x="0" y="0"/>
            <a:chExt cx="9629724" cy="9629724"/>
          </a:xfrm>
        </p:grpSpPr>
        <p:sp>
          <p:nvSpPr>
            <p:cNvPr name="Freeform 5" id="5"/>
            <p:cNvSpPr/>
            <p:nvPr/>
          </p:nvSpPr>
          <p:spPr>
            <a:xfrm flipH="false" flipV="false" rot="0">
              <a:off x="0" y="0"/>
              <a:ext cx="9629775" cy="9629775"/>
            </a:xfrm>
            <a:custGeom>
              <a:avLst/>
              <a:gdLst/>
              <a:ahLst/>
              <a:cxnLst/>
              <a:rect r="r" b="b" t="t" l="l"/>
              <a:pathLst>
                <a:path h="9629775" w="9629775">
                  <a:moveTo>
                    <a:pt x="4814824" y="0"/>
                  </a:moveTo>
                  <a:cubicBezTo>
                    <a:pt x="2155698" y="0"/>
                    <a:pt x="0" y="2155698"/>
                    <a:pt x="0" y="4814824"/>
                  </a:cubicBezTo>
                  <a:cubicBezTo>
                    <a:pt x="0" y="7473950"/>
                    <a:pt x="2155698" y="9629775"/>
                    <a:pt x="4814824" y="9629775"/>
                  </a:cubicBezTo>
                  <a:cubicBezTo>
                    <a:pt x="7473950" y="9629775"/>
                    <a:pt x="9629775" y="7474077"/>
                    <a:pt x="9629775" y="4814824"/>
                  </a:cubicBezTo>
                  <a:cubicBezTo>
                    <a:pt x="9629775" y="2155571"/>
                    <a:pt x="7474077" y="0"/>
                    <a:pt x="4814824" y="0"/>
                  </a:cubicBezTo>
                  <a:close/>
                </a:path>
              </a:pathLst>
            </a:custGeom>
            <a:blipFill>
              <a:blip r:embed="rId6"/>
              <a:stretch>
                <a:fillRect l="-89890" t="0" r="-89889" b="0"/>
              </a:stretch>
            </a:blipFill>
          </p:spPr>
        </p:sp>
      </p:grpSp>
      <p:sp>
        <p:nvSpPr>
          <p:cNvPr name="Freeform 6" id="6"/>
          <p:cNvSpPr/>
          <p:nvPr/>
        </p:nvSpPr>
        <p:spPr>
          <a:xfrm flipH="false" flipV="false" rot="0">
            <a:off x="16547782" y="1439737"/>
            <a:ext cx="1423034" cy="1423034"/>
          </a:xfrm>
          <a:custGeom>
            <a:avLst/>
            <a:gdLst/>
            <a:ahLst/>
            <a:cxnLst/>
            <a:rect r="r" b="b" t="t" l="l"/>
            <a:pathLst>
              <a:path h="1423034" w="1423034">
                <a:moveTo>
                  <a:pt x="0" y="0"/>
                </a:moveTo>
                <a:lnTo>
                  <a:pt x="1423035" y="0"/>
                </a:lnTo>
                <a:lnTo>
                  <a:pt x="1423035" y="1423035"/>
                </a:lnTo>
                <a:lnTo>
                  <a:pt x="0" y="142303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6570900" y="-688400"/>
            <a:ext cx="1376799" cy="1376799"/>
          </a:xfrm>
          <a:custGeom>
            <a:avLst/>
            <a:gdLst/>
            <a:ahLst/>
            <a:cxnLst/>
            <a:rect r="r" b="b" t="t" l="l"/>
            <a:pathLst>
              <a:path h="1376799" w="1376799">
                <a:moveTo>
                  <a:pt x="0" y="0"/>
                </a:moveTo>
                <a:lnTo>
                  <a:pt x="1376799" y="0"/>
                </a:lnTo>
                <a:lnTo>
                  <a:pt x="1376799" y="1376799"/>
                </a:lnTo>
                <a:lnTo>
                  <a:pt x="0" y="137679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850836" y="9206844"/>
            <a:ext cx="1423034" cy="1423034"/>
          </a:xfrm>
          <a:custGeom>
            <a:avLst/>
            <a:gdLst/>
            <a:ahLst/>
            <a:cxnLst/>
            <a:rect r="r" b="b" t="t" l="l"/>
            <a:pathLst>
              <a:path h="1423034" w="1423034">
                <a:moveTo>
                  <a:pt x="0" y="0"/>
                </a:moveTo>
                <a:lnTo>
                  <a:pt x="1423035" y="0"/>
                </a:lnTo>
                <a:lnTo>
                  <a:pt x="1423035" y="1423035"/>
                </a:lnTo>
                <a:lnTo>
                  <a:pt x="0" y="142303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9" id="9"/>
          <p:cNvGrpSpPr/>
          <p:nvPr/>
        </p:nvGrpSpPr>
        <p:grpSpPr>
          <a:xfrm rot="0">
            <a:off x="10902344" y="5645153"/>
            <a:ext cx="6356956" cy="6356956"/>
            <a:chOff x="0" y="0"/>
            <a:chExt cx="8475942" cy="8475942"/>
          </a:xfrm>
        </p:grpSpPr>
        <p:sp>
          <p:nvSpPr>
            <p:cNvPr name="Freeform 10" id="10"/>
            <p:cNvSpPr/>
            <p:nvPr/>
          </p:nvSpPr>
          <p:spPr>
            <a:xfrm flipH="false" flipV="false" rot="0">
              <a:off x="0" y="0"/>
              <a:ext cx="8475980" cy="8475980"/>
            </a:xfrm>
            <a:custGeom>
              <a:avLst/>
              <a:gdLst/>
              <a:ahLst/>
              <a:cxnLst/>
              <a:rect r="r" b="b" t="t" l="l"/>
              <a:pathLst>
                <a:path h="8475980" w="8475980">
                  <a:moveTo>
                    <a:pt x="0" y="0"/>
                  </a:moveTo>
                  <a:lnTo>
                    <a:pt x="8475980" y="0"/>
                  </a:lnTo>
                  <a:lnTo>
                    <a:pt x="8475980" y="8475980"/>
                  </a:lnTo>
                  <a:lnTo>
                    <a:pt x="0" y="8475980"/>
                  </a:lnTo>
                  <a:lnTo>
                    <a:pt x="0" y="0"/>
                  </a:lnTo>
                  <a:close/>
                </a:path>
              </a:pathLst>
            </a:custGeom>
            <a:blipFill>
              <a:blip r:embed="rId13"/>
              <a:stretch>
                <a:fillRect l="0" t="0" r="0" b="0"/>
              </a:stretch>
            </a:blipFill>
          </p:spPr>
        </p:sp>
      </p:grpSp>
      <p:sp>
        <p:nvSpPr>
          <p:cNvPr name="TextBox 11" id="11"/>
          <p:cNvSpPr txBox="true"/>
          <p:nvPr/>
        </p:nvSpPr>
        <p:spPr>
          <a:xfrm rot="0">
            <a:off x="792099" y="2758526"/>
            <a:ext cx="8930926" cy="2214410"/>
          </a:xfrm>
          <a:prstGeom prst="rect">
            <a:avLst/>
          </a:prstGeom>
        </p:spPr>
        <p:txBody>
          <a:bodyPr anchor="t" rtlCol="false" tIns="0" lIns="0" bIns="0" rIns="0">
            <a:spAutoFit/>
          </a:bodyPr>
          <a:lstStyle/>
          <a:p>
            <a:pPr algn="l">
              <a:lnSpc>
                <a:spcPts val="8963"/>
              </a:lnSpc>
            </a:pPr>
            <a:r>
              <a:rPr lang="en-US" sz="8875" b="true">
                <a:solidFill>
                  <a:srgbClr val="F5F7F7"/>
                </a:solidFill>
                <a:latin typeface="Garet Bold"/>
                <a:ea typeface="Garet Bold"/>
                <a:cs typeface="Garet Bold"/>
                <a:sym typeface="Garet Bold"/>
              </a:rPr>
              <a:t>VISION BEYOND SIGHT</a:t>
            </a:r>
          </a:p>
        </p:txBody>
      </p:sp>
      <p:sp>
        <p:nvSpPr>
          <p:cNvPr name="TextBox 12" id="12"/>
          <p:cNvSpPr txBox="true"/>
          <p:nvPr/>
        </p:nvSpPr>
        <p:spPr>
          <a:xfrm rot="0">
            <a:off x="792099" y="5229739"/>
            <a:ext cx="8930926" cy="1485967"/>
          </a:xfrm>
          <a:prstGeom prst="rect">
            <a:avLst/>
          </a:prstGeom>
        </p:spPr>
        <p:txBody>
          <a:bodyPr anchor="t" rtlCol="false" tIns="0" lIns="0" bIns="0" rIns="0">
            <a:spAutoFit/>
          </a:bodyPr>
          <a:lstStyle/>
          <a:p>
            <a:pPr algn="l">
              <a:lnSpc>
                <a:spcPts val="3893"/>
              </a:lnSpc>
            </a:pPr>
            <a:r>
              <a:rPr lang="en-US" sz="2994">
                <a:solidFill>
                  <a:srgbClr val="F5F7F7"/>
                </a:solidFill>
                <a:latin typeface="Ovo"/>
                <a:ea typeface="Ovo"/>
                <a:cs typeface="Ovo"/>
                <a:sym typeface="Ovo"/>
              </a:rPr>
              <a:t>Real-Time Object Detection and Speech Feedback System for Visually Impaired Individuals</a:t>
            </a:r>
          </a:p>
          <a:p>
            <a:pPr algn="l">
              <a:lnSpc>
                <a:spcPts val="3893"/>
              </a:lnSpc>
            </a:pPr>
          </a:p>
        </p:txBody>
      </p:sp>
      <p:sp>
        <p:nvSpPr>
          <p:cNvPr name="TextBox 13" id="13"/>
          <p:cNvSpPr txBox="true"/>
          <p:nvPr/>
        </p:nvSpPr>
        <p:spPr>
          <a:xfrm rot="0">
            <a:off x="792099" y="1108462"/>
            <a:ext cx="7618800" cy="273710"/>
          </a:xfrm>
          <a:prstGeom prst="rect">
            <a:avLst/>
          </a:prstGeom>
        </p:spPr>
        <p:txBody>
          <a:bodyPr anchor="t" rtlCol="false" tIns="0" lIns="0" bIns="0" rIns="0">
            <a:spAutoFit/>
          </a:bodyPr>
          <a:lstStyle/>
          <a:p>
            <a:pPr algn="l">
              <a:lnSpc>
                <a:spcPts val="2238"/>
              </a:lnSpc>
            </a:pPr>
            <a:r>
              <a:rPr lang="en-US" b="true" sz="1597" spc="159">
                <a:solidFill>
                  <a:srgbClr val="F5F7F7"/>
                </a:solidFill>
                <a:latin typeface="Garet Bold"/>
                <a:ea typeface="Garet Bold"/>
                <a:cs typeface="Garet Bold"/>
                <a:sym typeface="Garet Bold"/>
              </a:rPr>
              <a:t>ENHANCING LIVES THROUGH INNOVATIVE TECHNOLOGY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1314" r="0" b="0"/>
          <a:stretch>
            <a:fillRect/>
          </a:stretch>
        </p:blipFill>
        <p:spPr>
          <a:xfrm flipH="false" flipV="false" rot="0">
            <a:off x="8509069" y="3603540"/>
            <a:ext cx="8750231" cy="5325031"/>
          </a:xfrm>
          <a:prstGeom prst="rect">
            <a:avLst/>
          </a:prstGeom>
        </p:spPr>
      </p:pic>
      <p:sp>
        <p:nvSpPr>
          <p:cNvPr name="TextBox 3" id="3"/>
          <p:cNvSpPr txBox="true"/>
          <p:nvPr/>
        </p:nvSpPr>
        <p:spPr>
          <a:xfrm rot="0">
            <a:off x="792099" y="832844"/>
            <a:ext cx="16230600" cy="2297810"/>
          </a:xfrm>
          <a:prstGeom prst="rect">
            <a:avLst/>
          </a:prstGeom>
        </p:spPr>
        <p:txBody>
          <a:bodyPr anchor="t" rtlCol="false" tIns="0" lIns="0" bIns="0" rIns="0">
            <a:spAutoFit/>
          </a:bodyPr>
          <a:lstStyle/>
          <a:p>
            <a:pPr algn="l">
              <a:lnSpc>
                <a:spcPts val="8862"/>
              </a:lnSpc>
            </a:pPr>
            <a:r>
              <a:rPr lang="en-US" sz="8775" b="true">
                <a:solidFill>
                  <a:srgbClr val="F5F7F7"/>
                </a:solidFill>
                <a:latin typeface="Garet Bold"/>
                <a:ea typeface="Garet Bold"/>
                <a:cs typeface="Garet Bold"/>
                <a:sym typeface="Garet Bold"/>
              </a:rPr>
              <a:t>TEAM NAME : SWORD OF MORNING</a:t>
            </a:r>
          </a:p>
        </p:txBody>
      </p:sp>
      <p:sp>
        <p:nvSpPr>
          <p:cNvPr name="TextBox 4" id="4"/>
          <p:cNvSpPr txBox="true"/>
          <p:nvPr/>
        </p:nvSpPr>
        <p:spPr>
          <a:xfrm rot="0">
            <a:off x="319134" y="6644811"/>
            <a:ext cx="4008501" cy="462725"/>
          </a:xfrm>
          <a:prstGeom prst="rect">
            <a:avLst/>
          </a:prstGeom>
        </p:spPr>
        <p:txBody>
          <a:bodyPr anchor="t" rtlCol="false" tIns="0" lIns="0" bIns="0" rIns="0">
            <a:spAutoFit/>
          </a:bodyPr>
          <a:lstStyle/>
          <a:p>
            <a:pPr algn="ctr">
              <a:lnSpc>
                <a:spcPts val="3598"/>
              </a:lnSpc>
            </a:pPr>
            <a:r>
              <a:rPr lang="en-US" sz="2999" u="sng">
                <a:solidFill>
                  <a:srgbClr val="F5F7F7"/>
                </a:solidFill>
                <a:latin typeface="Ovo"/>
                <a:ea typeface="Ovo"/>
                <a:cs typeface="Ovo"/>
                <a:sym typeface="Ovo"/>
              </a:rPr>
              <a:t>TEAM MEMBERS</a:t>
            </a:r>
          </a:p>
        </p:txBody>
      </p:sp>
      <p:sp>
        <p:nvSpPr>
          <p:cNvPr name="TextBox 5" id="5"/>
          <p:cNvSpPr txBox="true"/>
          <p:nvPr/>
        </p:nvSpPr>
        <p:spPr>
          <a:xfrm rot="0">
            <a:off x="792099" y="7580859"/>
            <a:ext cx="4853349" cy="1019175"/>
          </a:xfrm>
          <a:prstGeom prst="rect">
            <a:avLst/>
          </a:prstGeom>
        </p:spPr>
        <p:txBody>
          <a:bodyPr anchor="t" rtlCol="false" tIns="0" lIns="0" bIns="0" rIns="0">
            <a:spAutoFit/>
          </a:bodyPr>
          <a:lstStyle/>
          <a:p>
            <a:pPr algn="l">
              <a:lnSpc>
                <a:spcPts val="2639"/>
              </a:lnSpc>
            </a:pPr>
            <a:r>
              <a:rPr lang="en-US" sz="2199">
                <a:solidFill>
                  <a:srgbClr val="F5F7F7"/>
                </a:solidFill>
                <a:latin typeface="Ovo"/>
                <a:ea typeface="Ovo"/>
                <a:cs typeface="Ovo"/>
                <a:sym typeface="Ovo"/>
              </a:rPr>
              <a:t>Tufan Layek (RA2411004010209)</a:t>
            </a:r>
          </a:p>
          <a:p>
            <a:pPr algn="l">
              <a:lnSpc>
                <a:spcPts val="2639"/>
              </a:lnSpc>
            </a:pPr>
            <a:r>
              <a:rPr lang="en-US" sz="2199">
                <a:solidFill>
                  <a:srgbClr val="F5F7F7"/>
                </a:solidFill>
                <a:latin typeface="Ovo"/>
                <a:ea typeface="Ovo"/>
                <a:cs typeface="Ovo"/>
                <a:sym typeface="Ovo"/>
              </a:rPr>
              <a:t>Protyay Saha (RA2411004010196)</a:t>
            </a:r>
          </a:p>
          <a:p>
            <a:pPr algn="l">
              <a:lnSpc>
                <a:spcPts val="2639"/>
              </a:lnSpc>
            </a:pPr>
            <a:r>
              <a:rPr lang="en-US" sz="2199">
                <a:solidFill>
                  <a:srgbClr val="F5F7F7"/>
                </a:solidFill>
                <a:latin typeface="Ovo"/>
                <a:ea typeface="Ovo"/>
                <a:cs typeface="Ovo"/>
                <a:sym typeface="Ovo"/>
              </a:rPr>
              <a:t>Adamya Srivastava (RA2411004010190)</a:t>
            </a:r>
          </a:p>
        </p:txBody>
      </p:sp>
      <p:sp>
        <p:nvSpPr>
          <p:cNvPr name="TextBox 6" id="6"/>
          <p:cNvSpPr txBox="true"/>
          <p:nvPr/>
        </p:nvSpPr>
        <p:spPr>
          <a:xfrm rot="0">
            <a:off x="792099" y="3825267"/>
            <a:ext cx="6268801" cy="1318233"/>
          </a:xfrm>
          <a:prstGeom prst="rect">
            <a:avLst/>
          </a:prstGeom>
        </p:spPr>
        <p:txBody>
          <a:bodyPr anchor="t" rtlCol="false" tIns="0" lIns="0" bIns="0" rIns="0">
            <a:spAutoFit/>
          </a:bodyPr>
          <a:lstStyle/>
          <a:p>
            <a:pPr algn="l">
              <a:lnSpc>
                <a:spcPts val="3509"/>
              </a:lnSpc>
            </a:pPr>
            <a:r>
              <a:rPr lang="en-US" sz="2699">
                <a:solidFill>
                  <a:srgbClr val="F5F7F7"/>
                </a:solidFill>
                <a:latin typeface="Noto Serif Ethiopic Condensed"/>
                <a:ea typeface="Noto Serif Ethiopic Condensed"/>
                <a:cs typeface="Noto Serif Ethiopic Condensed"/>
                <a:sym typeface="Noto Serif Ethiopic Condensed"/>
              </a:rPr>
              <a:t>GITHUB LINK:https://github.com/Rivu5555/object-whisperer.git</a:t>
            </a:r>
          </a:p>
        </p:txBody>
      </p:sp>
      <p:sp>
        <p:nvSpPr>
          <p:cNvPr name="TextBox 7" id="7"/>
          <p:cNvSpPr txBox="true"/>
          <p:nvPr/>
        </p:nvSpPr>
        <p:spPr>
          <a:xfrm rot="0">
            <a:off x="792099" y="5439817"/>
            <a:ext cx="6268801" cy="880103"/>
          </a:xfrm>
          <a:prstGeom prst="rect">
            <a:avLst/>
          </a:prstGeom>
        </p:spPr>
        <p:txBody>
          <a:bodyPr anchor="t" rtlCol="false" tIns="0" lIns="0" bIns="0" rIns="0">
            <a:spAutoFit/>
          </a:bodyPr>
          <a:lstStyle/>
          <a:p>
            <a:pPr algn="l">
              <a:lnSpc>
                <a:spcPts val="3508"/>
              </a:lnSpc>
            </a:pPr>
            <a:r>
              <a:rPr lang="en-US" sz="2699">
                <a:solidFill>
                  <a:srgbClr val="F5F7F7"/>
                </a:solidFill>
                <a:latin typeface="Noto Serif Ethiopic Condensed"/>
                <a:ea typeface="Noto Serif Ethiopic Condensed"/>
                <a:cs typeface="Noto Serif Ethiopic Condensed"/>
                <a:sym typeface="Noto Serif Ethiopic Condensed"/>
              </a:rPr>
              <a:t>THEME SELECTED : AI in HealthTech</a:t>
            </a:r>
          </a:p>
          <a:p>
            <a:pPr algn="l">
              <a:lnSpc>
                <a:spcPts val="3509"/>
              </a:lnSpc>
            </a:pPr>
          </a:p>
        </p:txBody>
      </p:sp>
    </p:spTree>
  </p:cSld>
  <p:clrMapOvr>
    <a:masterClrMapping/>
  </p:clrMapOvr>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10000"/>
        </a:solidFill>
      </p:bgPr>
    </p:bg>
    <p:spTree>
      <p:nvGrpSpPr>
        <p:cNvPr id="1" name=""/>
        <p:cNvGrpSpPr/>
        <p:nvPr/>
      </p:nvGrpSpPr>
      <p:grpSpPr>
        <a:xfrm>
          <a:off x="0" y="0"/>
          <a:ext cx="0" cy="0"/>
          <a:chOff x="0" y="0"/>
          <a:chExt cx="0" cy="0"/>
        </a:xfrm>
      </p:grpSpPr>
      <p:sp>
        <p:nvSpPr>
          <p:cNvPr name="Freeform 2" id="2"/>
          <p:cNvSpPr/>
          <p:nvPr/>
        </p:nvSpPr>
        <p:spPr>
          <a:xfrm flipH="false" flipV="false" rot="0">
            <a:off x="9443225" y="-10058822"/>
            <a:ext cx="17067784" cy="15217509"/>
          </a:xfrm>
          <a:custGeom>
            <a:avLst/>
            <a:gdLst/>
            <a:ahLst/>
            <a:cxnLst/>
            <a:rect r="r" b="b" t="t" l="l"/>
            <a:pathLst>
              <a:path h="15217509" w="17067784">
                <a:moveTo>
                  <a:pt x="0" y="0"/>
                </a:moveTo>
                <a:lnTo>
                  <a:pt x="17067784" y="0"/>
                </a:lnTo>
                <a:lnTo>
                  <a:pt x="17067784" y="15217509"/>
                </a:lnTo>
                <a:lnTo>
                  <a:pt x="0" y="152175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972723" y="1873006"/>
            <a:ext cx="14971366" cy="4748527"/>
          </a:xfrm>
          <a:prstGeom prst="rect">
            <a:avLst/>
          </a:prstGeom>
        </p:spPr>
        <p:txBody>
          <a:bodyPr anchor="t" rtlCol="false" tIns="0" lIns="0" bIns="0" rIns="0">
            <a:spAutoFit/>
          </a:bodyPr>
          <a:lstStyle/>
          <a:p>
            <a:pPr algn="l">
              <a:lnSpc>
                <a:spcPts val="3378"/>
              </a:lnSpc>
            </a:pPr>
            <a:r>
              <a:rPr lang="en-US" sz="2599">
                <a:solidFill>
                  <a:srgbClr val="F5F7F7"/>
                </a:solidFill>
                <a:latin typeface="Ovo"/>
                <a:ea typeface="Ovo"/>
                <a:cs typeface="Ovo"/>
                <a:sym typeface="Ovo"/>
              </a:rPr>
              <a:t>Visually impaired individuals encounter significant obstacles in their daily lives, particularly when navigating unfamiliar environments. While traditional assistive technologies like white canes have been helpful, they offer limited information about the surroundings. Smart glasses, although more advanced, are often prohibitively expensive. Furthermore, many existing systems focus primarily on text recognition, neglecting the crucial aspect of real-time obstacle detection and spatial awareness.</a:t>
            </a:r>
          </a:p>
          <a:p>
            <a:pPr algn="l">
              <a:lnSpc>
                <a:spcPts val="3378"/>
              </a:lnSpc>
            </a:pPr>
          </a:p>
          <a:p>
            <a:pPr algn="l">
              <a:lnSpc>
                <a:spcPts val="3378"/>
              </a:lnSpc>
            </a:pPr>
            <a:r>
              <a:rPr lang="en-US" sz="2599">
                <a:solidFill>
                  <a:srgbClr val="F5F7F7"/>
                </a:solidFill>
                <a:latin typeface="Ovo"/>
                <a:ea typeface="Ovo"/>
                <a:cs typeface="Ovo"/>
                <a:sym typeface="Ovo"/>
              </a:rPr>
              <a:t>Our proposed solution addresses these shortcomings by integrating object detection and spatial awareness into a text-to-speech system. This enhanced system provides real-time auditory feedback about nearby objects and their positions, enabling visually impaired users to navigate more safely and independently.</a:t>
            </a:r>
          </a:p>
          <a:p>
            <a:pPr algn="l">
              <a:lnSpc>
                <a:spcPts val="3378"/>
              </a:lnSpc>
            </a:pPr>
          </a:p>
        </p:txBody>
      </p:sp>
      <p:sp>
        <p:nvSpPr>
          <p:cNvPr name="TextBox 4" id="4"/>
          <p:cNvSpPr txBox="true"/>
          <p:nvPr/>
        </p:nvSpPr>
        <p:spPr>
          <a:xfrm rot="0">
            <a:off x="1972723" y="804262"/>
            <a:ext cx="14971366" cy="660749"/>
          </a:xfrm>
          <a:prstGeom prst="rect">
            <a:avLst/>
          </a:prstGeom>
        </p:spPr>
        <p:txBody>
          <a:bodyPr anchor="t" rtlCol="false" tIns="0" lIns="0" bIns="0" rIns="0">
            <a:spAutoFit/>
          </a:bodyPr>
          <a:lstStyle/>
          <a:p>
            <a:pPr algn="ctr">
              <a:lnSpc>
                <a:spcPts val="5529"/>
              </a:lnSpc>
            </a:pPr>
            <a:r>
              <a:rPr lang="en-US" sz="5475" b="true">
                <a:solidFill>
                  <a:srgbClr val="F5F7F7"/>
                </a:solidFill>
                <a:latin typeface="Garet Bold"/>
                <a:ea typeface="Garet Bold"/>
                <a:cs typeface="Garet Bold"/>
                <a:sym typeface="Garet Bold"/>
              </a:rPr>
              <a:t>INTRODUCTION</a:t>
            </a:r>
          </a:p>
        </p:txBody>
      </p:sp>
      <p:sp>
        <p:nvSpPr>
          <p:cNvPr name="Freeform 5" id="5"/>
          <p:cNvSpPr/>
          <p:nvPr/>
        </p:nvSpPr>
        <p:spPr>
          <a:xfrm flipH="false" flipV="false" rot="0">
            <a:off x="-657576" y="7300627"/>
            <a:ext cx="1315151" cy="1315151"/>
          </a:xfrm>
          <a:custGeom>
            <a:avLst/>
            <a:gdLst/>
            <a:ahLst/>
            <a:cxnLst/>
            <a:rect r="r" b="b" t="t" l="l"/>
            <a:pathLst>
              <a:path h="1315151" w="1315151">
                <a:moveTo>
                  <a:pt x="0" y="0"/>
                </a:moveTo>
                <a:lnTo>
                  <a:pt x="1315151" y="0"/>
                </a:lnTo>
                <a:lnTo>
                  <a:pt x="1315151" y="1315151"/>
                </a:lnTo>
                <a:lnTo>
                  <a:pt x="0" y="13151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657576" y="-424799"/>
            <a:ext cx="1315151" cy="1315151"/>
          </a:xfrm>
          <a:custGeom>
            <a:avLst/>
            <a:gdLst/>
            <a:ahLst/>
            <a:cxnLst/>
            <a:rect r="r" b="b" t="t" l="l"/>
            <a:pathLst>
              <a:path h="1315151" w="1315151">
                <a:moveTo>
                  <a:pt x="0" y="0"/>
                </a:moveTo>
                <a:lnTo>
                  <a:pt x="1315151" y="0"/>
                </a:lnTo>
                <a:lnTo>
                  <a:pt x="1315151" y="1315151"/>
                </a:lnTo>
                <a:lnTo>
                  <a:pt x="0" y="13151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7354" y="9575482"/>
            <a:ext cx="1423034" cy="1423034"/>
          </a:xfrm>
          <a:custGeom>
            <a:avLst/>
            <a:gdLst/>
            <a:ahLst/>
            <a:cxnLst/>
            <a:rect r="r" b="b" t="t" l="l"/>
            <a:pathLst>
              <a:path h="1423034" w="1423034">
                <a:moveTo>
                  <a:pt x="0" y="0"/>
                </a:moveTo>
                <a:lnTo>
                  <a:pt x="1423035" y="0"/>
                </a:lnTo>
                <a:lnTo>
                  <a:pt x="1423035" y="1423035"/>
                </a:lnTo>
                <a:lnTo>
                  <a:pt x="0" y="142303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 id="8"/>
          <p:cNvGrpSpPr/>
          <p:nvPr/>
        </p:nvGrpSpPr>
        <p:grpSpPr>
          <a:xfrm rot="0">
            <a:off x="1972723" y="6320552"/>
            <a:ext cx="14568402" cy="3613414"/>
            <a:chOff x="0" y="0"/>
            <a:chExt cx="19424536" cy="4817885"/>
          </a:xfrm>
        </p:grpSpPr>
        <p:sp>
          <p:nvSpPr>
            <p:cNvPr name="Freeform 9" id="9"/>
            <p:cNvSpPr/>
            <p:nvPr/>
          </p:nvSpPr>
          <p:spPr>
            <a:xfrm flipH="false" flipV="false" rot="0">
              <a:off x="0" y="0"/>
              <a:ext cx="19424523" cy="4817872"/>
            </a:xfrm>
            <a:custGeom>
              <a:avLst/>
              <a:gdLst/>
              <a:ahLst/>
              <a:cxnLst/>
              <a:rect r="r" b="b" t="t" l="l"/>
              <a:pathLst>
                <a:path h="4817872" w="19424523">
                  <a:moveTo>
                    <a:pt x="0" y="0"/>
                  </a:moveTo>
                  <a:lnTo>
                    <a:pt x="19424523" y="0"/>
                  </a:lnTo>
                  <a:lnTo>
                    <a:pt x="19424523" y="4817872"/>
                  </a:lnTo>
                  <a:lnTo>
                    <a:pt x="0" y="4817872"/>
                  </a:lnTo>
                  <a:lnTo>
                    <a:pt x="0" y="0"/>
                  </a:lnTo>
                  <a:close/>
                </a:path>
              </a:pathLst>
            </a:custGeom>
            <a:blipFill>
              <a:blip r:embed="rId8"/>
              <a:stretch>
                <a:fillRect l="0" t="-630" r="0" b="-630"/>
              </a:stretch>
            </a:blipFill>
          </p:spPr>
        </p:sp>
      </p:grpSp>
      <p:sp>
        <p:nvSpPr>
          <p:cNvPr name="Freeform 10" id="10"/>
          <p:cNvSpPr/>
          <p:nvPr/>
        </p:nvSpPr>
        <p:spPr>
          <a:xfrm flipH="false" flipV="false" rot="0">
            <a:off x="16541130" y="9423845"/>
            <a:ext cx="1315151" cy="1315151"/>
          </a:xfrm>
          <a:custGeom>
            <a:avLst/>
            <a:gdLst/>
            <a:ahLst/>
            <a:cxnLst/>
            <a:rect r="r" b="b" t="t" l="l"/>
            <a:pathLst>
              <a:path h="1315151" w="1315151">
                <a:moveTo>
                  <a:pt x="0" y="0"/>
                </a:moveTo>
                <a:lnTo>
                  <a:pt x="1315151" y="0"/>
                </a:lnTo>
                <a:lnTo>
                  <a:pt x="1315151" y="1315151"/>
                </a:lnTo>
                <a:lnTo>
                  <a:pt x="0" y="13151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E2024"/>
        </a:solidFill>
      </p:bgPr>
    </p:bg>
    <p:spTree>
      <p:nvGrpSpPr>
        <p:cNvPr id="1" name=""/>
        <p:cNvGrpSpPr/>
        <p:nvPr/>
      </p:nvGrpSpPr>
      <p:grpSpPr>
        <a:xfrm>
          <a:off x="0" y="0"/>
          <a:ext cx="0" cy="0"/>
          <a:chOff x="0" y="0"/>
          <a:chExt cx="0" cy="0"/>
        </a:xfrm>
      </p:grpSpPr>
      <p:sp>
        <p:nvSpPr>
          <p:cNvPr name="Freeform 2" id="2"/>
          <p:cNvSpPr/>
          <p:nvPr/>
        </p:nvSpPr>
        <p:spPr>
          <a:xfrm flipH="false" flipV="false" rot="0">
            <a:off x="17748796" y="1600078"/>
            <a:ext cx="1423034" cy="1423034"/>
          </a:xfrm>
          <a:custGeom>
            <a:avLst/>
            <a:gdLst/>
            <a:ahLst/>
            <a:cxnLst/>
            <a:rect r="r" b="b" t="t" l="l"/>
            <a:pathLst>
              <a:path h="1423034" w="1423034">
                <a:moveTo>
                  <a:pt x="0" y="0"/>
                </a:moveTo>
                <a:lnTo>
                  <a:pt x="1423035" y="0"/>
                </a:lnTo>
                <a:lnTo>
                  <a:pt x="1423035" y="1423035"/>
                </a:lnTo>
                <a:lnTo>
                  <a:pt x="0" y="14230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67848" y="5919405"/>
            <a:ext cx="1423034" cy="1423034"/>
          </a:xfrm>
          <a:custGeom>
            <a:avLst/>
            <a:gdLst/>
            <a:ahLst/>
            <a:cxnLst/>
            <a:rect r="r" b="b" t="t" l="l"/>
            <a:pathLst>
              <a:path h="1423034" w="1423034">
                <a:moveTo>
                  <a:pt x="0" y="0"/>
                </a:moveTo>
                <a:lnTo>
                  <a:pt x="1423035" y="0"/>
                </a:lnTo>
                <a:lnTo>
                  <a:pt x="1423035" y="1423035"/>
                </a:lnTo>
                <a:lnTo>
                  <a:pt x="0" y="14230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18836" y="9629424"/>
            <a:ext cx="1315151" cy="1315151"/>
          </a:xfrm>
          <a:custGeom>
            <a:avLst/>
            <a:gdLst/>
            <a:ahLst/>
            <a:cxnLst/>
            <a:rect r="r" b="b" t="t" l="l"/>
            <a:pathLst>
              <a:path h="1315151" w="1315151">
                <a:moveTo>
                  <a:pt x="0" y="0"/>
                </a:moveTo>
                <a:lnTo>
                  <a:pt x="1315151" y="0"/>
                </a:lnTo>
                <a:lnTo>
                  <a:pt x="1315151" y="1315151"/>
                </a:lnTo>
                <a:lnTo>
                  <a:pt x="0" y="13151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38060" y="8606426"/>
            <a:ext cx="1315151" cy="1315151"/>
          </a:xfrm>
          <a:custGeom>
            <a:avLst/>
            <a:gdLst/>
            <a:ahLst/>
            <a:cxnLst/>
            <a:rect r="r" b="b" t="t" l="l"/>
            <a:pathLst>
              <a:path h="1315151" w="1315151">
                <a:moveTo>
                  <a:pt x="0" y="0"/>
                </a:moveTo>
                <a:lnTo>
                  <a:pt x="1315151" y="0"/>
                </a:lnTo>
                <a:lnTo>
                  <a:pt x="1315151" y="1315151"/>
                </a:lnTo>
                <a:lnTo>
                  <a:pt x="0" y="13151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5573297" y="1933737"/>
            <a:ext cx="11686003" cy="8079219"/>
            <a:chOff x="0" y="0"/>
            <a:chExt cx="15581338" cy="10772292"/>
          </a:xfrm>
        </p:grpSpPr>
        <p:sp>
          <p:nvSpPr>
            <p:cNvPr name="Freeform 7" id="7"/>
            <p:cNvSpPr/>
            <p:nvPr/>
          </p:nvSpPr>
          <p:spPr>
            <a:xfrm flipH="false" flipV="false" rot="0">
              <a:off x="0" y="0"/>
              <a:ext cx="15581376" cy="10772267"/>
            </a:xfrm>
            <a:custGeom>
              <a:avLst/>
              <a:gdLst/>
              <a:ahLst/>
              <a:cxnLst/>
              <a:rect r="r" b="b" t="t" l="l"/>
              <a:pathLst>
                <a:path h="10772267" w="15581376">
                  <a:moveTo>
                    <a:pt x="0" y="0"/>
                  </a:moveTo>
                  <a:lnTo>
                    <a:pt x="15581376" y="0"/>
                  </a:lnTo>
                  <a:lnTo>
                    <a:pt x="15581376" y="10772267"/>
                  </a:lnTo>
                  <a:lnTo>
                    <a:pt x="0" y="10772267"/>
                  </a:lnTo>
                  <a:lnTo>
                    <a:pt x="0" y="0"/>
                  </a:lnTo>
                  <a:close/>
                </a:path>
              </a:pathLst>
            </a:custGeom>
            <a:blipFill>
              <a:blip r:embed="rId8"/>
              <a:stretch>
                <a:fillRect l="-4281" t="0" r="-4280" b="0"/>
              </a:stretch>
            </a:blipFill>
          </p:spPr>
        </p:sp>
      </p:grpSp>
      <p:sp>
        <p:nvSpPr>
          <p:cNvPr name="TextBox 8" id="8"/>
          <p:cNvSpPr txBox="true"/>
          <p:nvPr/>
        </p:nvSpPr>
        <p:spPr>
          <a:xfrm rot="0">
            <a:off x="818836" y="2254444"/>
            <a:ext cx="4932255" cy="5462969"/>
          </a:xfrm>
          <a:prstGeom prst="rect">
            <a:avLst/>
          </a:prstGeom>
        </p:spPr>
        <p:txBody>
          <a:bodyPr anchor="t" rtlCol="false" tIns="0" lIns="0" bIns="0" rIns="0">
            <a:spAutoFit/>
          </a:bodyPr>
          <a:lstStyle/>
          <a:p>
            <a:pPr algn="l">
              <a:lnSpc>
                <a:spcPts val="4404"/>
              </a:lnSpc>
            </a:pPr>
            <a:r>
              <a:rPr lang="en-US" sz="3495">
                <a:solidFill>
                  <a:srgbClr val="F5F7F7"/>
                </a:solidFill>
                <a:latin typeface="Ovo"/>
                <a:ea typeface="Ovo"/>
                <a:cs typeface="Ovo"/>
                <a:sym typeface="Ovo"/>
              </a:rPr>
              <a:t>The core problem lies in the lack of affordable and comprehensive assistive technologies that provide visually impaired individuals with real-time information about their surroundings.</a:t>
            </a:r>
          </a:p>
          <a:p>
            <a:pPr algn="l">
              <a:lnSpc>
                <a:spcPts val="4404"/>
              </a:lnSpc>
            </a:pPr>
          </a:p>
        </p:txBody>
      </p:sp>
      <p:sp>
        <p:nvSpPr>
          <p:cNvPr name="TextBox 9" id="9"/>
          <p:cNvSpPr txBox="true"/>
          <p:nvPr/>
        </p:nvSpPr>
        <p:spPr>
          <a:xfrm rot="0">
            <a:off x="818836" y="1104214"/>
            <a:ext cx="7545076" cy="569204"/>
          </a:xfrm>
          <a:prstGeom prst="rect">
            <a:avLst/>
          </a:prstGeom>
        </p:spPr>
        <p:txBody>
          <a:bodyPr anchor="t" rtlCol="false" tIns="0" lIns="0" bIns="0" rIns="0">
            <a:spAutoFit/>
          </a:bodyPr>
          <a:lstStyle/>
          <a:p>
            <a:pPr algn="l">
              <a:lnSpc>
                <a:spcPts val="5086"/>
              </a:lnSpc>
            </a:pPr>
            <a:r>
              <a:rPr lang="en-US" sz="5036" b="true">
                <a:solidFill>
                  <a:srgbClr val="F5F7F7"/>
                </a:solidFill>
                <a:latin typeface="Garet Bold"/>
                <a:ea typeface="Garet Bold"/>
                <a:cs typeface="Garet Bold"/>
                <a:sym typeface="Garet Bold"/>
              </a:rPr>
              <a:t>PROBLEM STATEMENT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E2024"/>
        </a:solidFill>
      </p:bgPr>
    </p:bg>
    <p:spTree>
      <p:nvGrpSpPr>
        <p:cNvPr id="1" name=""/>
        <p:cNvGrpSpPr/>
        <p:nvPr/>
      </p:nvGrpSpPr>
      <p:grpSpPr>
        <a:xfrm>
          <a:off x="0" y="0"/>
          <a:ext cx="0" cy="0"/>
          <a:chOff x="0" y="0"/>
          <a:chExt cx="0" cy="0"/>
        </a:xfrm>
      </p:grpSpPr>
      <p:sp>
        <p:nvSpPr>
          <p:cNvPr name="Freeform 2" id="2"/>
          <p:cNvSpPr/>
          <p:nvPr/>
        </p:nvSpPr>
        <p:spPr>
          <a:xfrm flipH="false" flipV="false" rot="0">
            <a:off x="17748796" y="1600078"/>
            <a:ext cx="1423034" cy="1423034"/>
          </a:xfrm>
          <a:custGeom>
            <a:avLst/>
            <a:gdLst/>
            <a:ahLst/>
            <a:cxnLst/>
            <a:rect r="r" b="b" t="t" l="l"/>
            <a:pathLst>
              <a:path h="1423034" w="1423034">
                <a:moveTo>
                  <a:pt x="0" y="0"/>
                </a:moveTo>
                <a:lnTo>
                  <a:pt x="1423035" y="0"/>
                </a:lnTo>
                <a:lnTo>
                  <a:pt x="1423035" y="1423035"/>
                </a:lnTo>
                <a:lnTo>
                  <a:pt x="0" y="14230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67848" y="5919405"/>
            <a:ext cx="1423034" cy="1423034"/>
          </a:xfrm>
          <a:custGeom>
            <a:avLst/>
            <a:gdLst/>
            <a:ahLst/>
            <a:cxnLst/>
            <a:rect r="r" b="b" t="t" l="l"/>
            <a:pathLst>
              <a:path h="1423034" w="1423034">
                <a:moveTo>
                  <a:pt x="0" y="0"/>
                </a:moveTo>
                <a:lnTo>
                  <a:pt x="1423035" y="0"/>
                </a:lnTo>
                <a:lnTo>
                  <a:pt x="1423035" y="1423035"/>
                </a:lnTo>
                <a:lnTo>
                  <a:pt x="0" y="14230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18836" y="9629424"/>
            <a:ext cx="1315151" cy="1315151"/>
          </a:xfrm>
          <a:custGeom>
            <a:avLst/>
            <a:gdLst/>
            <a:ahLst/>
            <a:cxnLst/>
            <a:rect r="r" b="b" t="t" l="l"/>
            <a:pathLst>
              <a:path h="1315151" w="1315151">
                <a:moveTo>
                  <a:pt x="0" y="0"/>
                </a:moveTo>
                <a:lnTo>
                  <a:pt x="1315151" y="0"/>
                </a:lnTo>
                <a:lnTo>
                  <a:pt x="1315151" y="1315151"/>
                </a:lnTo>
                <a:lnTo>
                  <a:pt x="0" y="13151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38060" y="8606426"/>
            <a:ext cx="1315151" cy="1315151"/>
          </a:xfrm>
          <a:custGeom>
            <a:avLst/>
            <a:gdLst/>
            <a:ahLst/>
            <a:cxnLst/>
            <a:rect r="r" b="b" t="t" l="l"/>
            <a:pathLst>
              <a:path h="1315151" w="1315151">
                <a:moveTo>
                  <a:pt x="0" y="0"/>
                </a:moveTo>
                <a:lnTo>
                  <a:pt x="1315151" y="0"/>
                </a:lnTo>
                <a:lnTo>
                  <a:pt x="1315151" y="1315151"/>
                </a:lnTo>
                <a:lnTo>
                  <a:pt x="0" y="13151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7226913" y="2010747"/>
            <a:ext cx="9345463" cy="7009095"/>
            <a:chOff x="0" y="0"/>
            <a:chExt cx="12460618" cy="9345460"/>
          </a:xfrm>
        </p:grpSpPr>
        <p:sp>
          <p:nvSpPr>
            <p:cNvPr name="Freeform 7" id="7"/>
            <p:cNvSpPr/>
            <p:nvPr/>
          </p:nvSpPr>
          <p:spPr>
            <a:xfrm flipH="false" flipV="false" rot="0">
              <a:off x="0" y="0"/>
              <a:ext cx="12460605" cy="9345422"/>
            </a:xfrm>
            <a:custGeom>
              <a:avLst/>
              <a:gdLst/>
              <a:ahLst/>
              <a:cxnLst/>
              <a:rect r="r" b="b" t="t" l="l"/>
              <a:pathLst>
                <a:path h="9345422" w="12460605">
                  <a:moveTo>
                    <a:pt x="0" y="0"/>
                  </a:moveTo>
                  <a:lnTo>
                    <a:pt x="12460605" y="0"/>
                  </a:lnTo>
                  <a:lnTo>
                    <a:pt x="12460605" y="9345422"/>
                  </a:lnTo>
                  <a:lnTo>
                    <a:pt x="0" y="9345422"/>
                  </a:lnTo>
                  <a:lnTo>
                    <a:pt x="0" y="0"/>
                  </a:lnTo>
                  <a:close/>
                </a:path>
              </a:pathLst>
            </a:custGeom>
            <a:blipFill>
              <a:blip r:embed="rId8"/>
              <a:stretch>
                <a:fillRect l="0" t="0" r="0" b="0"/>
              </a:stretch>
            </a:blipFill>
          </p:spPr>
        </p:sp>
      </p:grpSp>
      <p:sp>
        <p:nvSpPr>
          <p:cNvPr name="TextBox 8" id="8"/>
          <p:cNvSpPr txBox="true"/>
          <p:nvPr/>
        </p:nvSpPr>
        <p:spPr>
          <a:xfrm rot="0">
            <a:off x="1907981" y="2367020"/>
            <a:ext cx="4361983" cy="6652822"/>
          </a:xfrm>
          <a:prstGeom prst="rect">
            <a:avLst/>
          </a:prstGeom>
        </p:spPr>
        <p:txBody>
          <a:bodyPr anchor="t" rtlCol="false" tIns="0" lIns="0" bIns="0" rIns="0">
            <a:spAutoFit/>
          </a:bodyPr>
          <a:lstStyle/>
          <a:p>
            <a:pPr algn="l">
              <a:lnSpc>
                <a:spcPts val="3153"/>
              </a:lnSpc>
            </a:pPr>
            <a:r>
              <a:rPr lang="en-US" sz="2503">
                <a:solidFill>
                  <a:srgbClr val="F5F7F7"/>
                </a:solidFill>
                <a:latin typeface="Ovo"/>
                <a:ea typeface="Ovo"/>
                <a:cs typeface="Ovo"/>
                <a:sym typeface="Ovo"/>
              </a:rPr>
              <a:t>Our proposed solution involves an enhanced text-to-speech model that incorporates object detection and spatial awareness capabilities. The system utilizes a camera to continuously scan the surroundings, detect nearby objects, and determine their relative position (left, right, or front). This information is then instantly converted into speech output, providing users with real-time alerts about obstacles and their positions.</a:t>
            </a:r>
          </a:p>
          <a:p>
            <a:pPr algn="l">
              <a:lnSpc>
                <a:spcPts val="3153"/>
              </a:lnSpc>
            </a:pPr>
          </a:p>
          <a:p>
            <a:pPr algn="l">
              <a:lnSpc>
                <a:spcPts val="3153"/>
              </a:lnSpc>
            </a:pPr>
          </a:p>
        </p:txBody>
      </p:sp>
      <p:sp>
        <p:nvSpPr>
          <p:cNvPr name="TextBox 9" id="9"/>
          <p:cNvSpPr txBox="true"/>
          <p:nvPr/>
        </p:nvSpPr>
        <p:spPr>
          <a:xfrm rot="0">
            <a:off x="1907981" y="981580"/>
            <a:ext cx="9714757" cy="569204"/>
          </a:xfrm>
          <a:prstGeom prst="rect">
            <a:avLst/>
          </a:prstGeom>
        </p:spPr>
        <p:txBody>
          <a:bodyPr anchor="t" rtlCol="false" tIns="0" lIns="0" bIns="0" rIns="0">
            <a:spAutoFit/>
          </a:bodyPr>
          <a:lstStyle/>
          <a:p>
            <a:pPr algn="l">
              <a:lnSpc>
                <a:spcPts val="5086"/>
              </a:lnSpc>
            </a:pPr>
            <a:r>
              <a:rPr lang="en-US" sz="5036" b="true">
                <a:solidFill>
                  <a:srgbClr val="F5F7F7"/>
                </a:solidFill>
                <a:latin typeface="Garet Bold"/>
                <a:ea typeface="Garet Bold"/>
                <a:cs typeface="Garet Bold"/>
                <a:sym typeface="Garet Bold"/>
              </a:rPr>
              <a:t>PROPOSED SOLUTION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E2024"/>
        </a:solidFill>
      </p:bgPr>
    </p:bg>
    <p:spTree>
      <p:nvGrpSpPr>
        <p:cNvPr id="1" name=""/>
        <p:cNvGrpSpPr/>
        <p:nvPr/>
      </p:nvGrpSpPr>
      <p:grpSpPr>
        <a:xfrm>
          <a:off x="0" y="0"/>
          <a:ext cx="0" cy="0"/>
          <a:chOff x="0" y="0"/>
          <a:chExt cx="0" cy="0"/>
        </a:xfrm>
      </p:grpSpPr>
      <p:sp>
        <p:nvSpPr>
          <p:cNvPr name="Freeform 2" id="2"/>
          <p:cNvSpPr/>
          <p:nvPr/>
        </p:nvSpPr>
        <p:spPr>
          <a:xfrm flipH="false" flipV="false" rot="0">
            <a:off x="17748796" y="1600078"/>
            <a:ext cx="1423034" cy="1423034"/>
          </a:xfrm>
          <a:custGeom>
            <a:avLst/>
            <a:gdLst/>
            <a:ahLst/>
            <a:cxnLst/>
            <a:rect r="r" b="b" t="t" l="l"/>
            <a:pathLst>
              <a:path h="1423034" w="1423034">
                <a:moveTo>
                  <a:pt x="0" y="0"/>
                </a:moveTo>
                <a:lnTo>
                  <a:pt x="1423035" y="0"/>
                </a:lnTo>
                <a:lnTo>
                  <a:pt x="1423035" y="1423035"/>
                </a:lnTo>
                <a:lnTo>
                  <a:pt x="0" y="14230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67848" y="5919405"/>
            <a:ext cx="1423034" cy="1423034"/>
          </a:xfrm>
          <a:custGeom>
            <a:avLst/>
            <a:gdLst/>
            <a:ahLst/>
            <a:cxnLst/>
            <a:rect r="r" b="b" t="t" l="l"/>
            <a:pathLst>
              <a:path h="1423034" w="1423034">
                <a:moveTo>
                  <a:pt x="0" y="0"/>
                </a:moveTo>
                <a:lnTo>
                  <a:pt x="1423035" y="0"/>
                </a:lnTo>
                <a:lnTo>
                  <a:pt x="1423035" y="1423035"/>
                </a:lnTo>
                <a:lnTo>
                  <a:pt x="0" y="14230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18836" y="9629424"/>
            <a:ext cx="1315151" cy="1315151"/>
          </a:xfrm>
          <a:custGeom>
            <a:avLst/>
            <a:gdLst/>
            <a:ahLst/>
            <a:cxnLst/>
            <a:rect r="r" b="b" t="t" l="l"/>
            <a:pathLst>
              <a:path h="1315151" w="1315151">
                <a:moveTo>
                  <a:pt x="0" y="0"/>
                </a:moveTo>
                <a:lnTo>
                  <a:pt x="1315151" y="0"/>
                </a:lnTo>
                <a:lnTo>
                  <a:pt x="1315151" y="1315151"/>
                </a:lnTo>
                <a:lnTo>
                  <a:pt x="0" y="13151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38060" y="8606426"/>
            <a:ext cx="1315151" cy="1315151"/>
          </a:xfrm>
          <a:custGeom>
            <a:avLst/>
            <a:gdLst/>
            <a:ahLst/>
            <a:cxnLst/>
            <a:rect r="r" b="b" t="t" l="l"/>
            <a:pathLst>
              <a:path h="1315151" w="1315151">
                <a:moveTo>
                  <a:pt x="0" y="0"/>
                </a:moveTo>
                <a:lnTo>
                  <a:pt x="1315151" y="0"/>
                </a:lnTo>
                <a:lnTo>
                  <a:pt x="1315151" y="1315151"/>
                </a:lnTo>
                <a:lnTo>
                  <a:pt x="0" y="13151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2576103" y="1946777"/>
            <a:ext cx="13135785" cy="6896290"/>
            <a:chOff x="0" y="0"/>
            <a:chExt cx="17514380" cy="9195054"/>
          </a:xfrm>
        </p:grpSpPr>
        <p:sp>
          <p:nvSpPr>
            <p:cNvPr name="Freeform 7" id="7"/>
            <p:cNvSpPr/>
            <p:nvPr/>
          </p:nvSpPr>
          <p:spPr>
            <a:xfrm flipH="false" flipV="false" rot="0">
              <a:off x="0" y="0"/>
              <a:ext cx="17514443" cy="9195054"/>
            </a:xfrm>
            <a:custGeom>
              <a:avLst/>
              <a:gdLst/>
              <a:ahLst/>
              <a:cxnLst/>
              <a:rect r="r" b="b" t="t" l="l"/>
              <a:pathLst>
                <a:path h="9195054" w="17514443">
                  <a:moveTo>
                    <a:pt x="0" y="0"/>
                  </a:moveTo>
                  <a:lnTo>
                    <a:pt x="17514443" y="0"/>
                  </a:lnTo>
                  <a:lnTo>
                    <a:pt x="17514443" y="9195054"/>
                  </a:lnTo>
                  <a:lnTo>
                    <a:pt x="0" y="9195054"/>
                  </a:lnTo>
                  <a:lnTo>
                    <a:pt x="0" y="0"/>
                  </a:lnTo>
                  <a:close/>
                </a:path>
              </a:pathLst>
            </a:custGeom>
            <a:blipFill>
              <a:blip r:embed="rId8"/>
              <a:stretch>
                <a:fillRect l="0" t="-52" r="0" b="-52"/>
              </a:stretch>
            </a:blipFill>
          </p:spPr>
        </p:sp>
      </p:grpSp>
      <p:sp>
        <p:nvSpPr>
          <p:cNvPr name="TextBox 8" id="8"/>
          <p:cNvSpPr txBox="true"/>
          <p:nvPr/>
        </p:nvSpPr>
        <p:spPr>
          <a:xfrm rot="0">
            <a:off x="1028700" y="586997"/>
            <a:ext cx="8834952" cy="569204"/>
          </a:xfrm>
          <a:prstGeom prst="rect">
            <a:avLst/>
          </a:prstGeom>
        </p:spPr>
        <p:txBody>
          <a:bodyPr anchor="t" rtlCol="false" tIns="0" lIns="0" bIns="0" rIns="0">
            <a:spAutoFit/>
          </a:bodyPr>
          <a:lstStyle/>
          <a:p>
            <a:pPr algn="l">
              <a:lnSpc>
                <a:spcPts val="5086"/>
              </a:lnSpc>
            </a:pPr>
            <a:r>
              <a:rPr lang="en-US" sz="5036" b="true">
                <a:solidFill>
                  <a:srgbClr val="F5F7F7"/>
                </a:solidFill>
                <a:latin typeface="Garet Bold"/>
                <a:ea typeface="Garet Bold"/>
                <a:cs typeface="Garet Bold"/>
                <a:sym typeface="Garet Bold"/>
              </a:rPr>
              <a:t>SYSTEM ARCHITECTURE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48796" y="1600078"/>
            <a:ext cx="1423034" cy="1423034"/>
          </a:xfrm>
          <a:custGeom>
            <a:avLst/>
            <a:gdLst/>
            <a:ahLst/>
            <a:cxnLst/>
            <a:rect r="r" b="b" t="t" l="l"/>
            <a:pathLst>
              <a:path h="1423034" w="1423034">
                <a:moveTo>
                  <a:pt x="0" y="0"/>
                </a:moveTo>
                <a:lnTo>
                  <a:pt x="1423035" y="0"/>
                </a:lnTo>
                <a:lnTo>
                  <a:pt x="1423035" y="1423035"/>
                </a:lnTo>
                <a:lnTo>
                  <a:pt x="0" y="14230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67848" y="5919405"/>
            <a:ext cx="1423034" cy="1423034"/>
          </a:xfrm>
          <a:custGeom>
            <a:avLst/>
            <a:gdLst/>
            <a:ahLst/>
            <a:cxnLst/>
            <a:rect r="r" b="b" t="t" l="l"/>
            <a:pathLst>
              <a:path h="1423034" w="1423034">
                <a:moveTo>
                  <a:pt x="0" y="0"/>
                </a:moveTo>
                <a:lnTo>
                  <a:pt x="1423035" y="0"/>
                </a:lnTo>
                <a:lnTo>
                  <a:pt x="1423035" y="1423035"/>
                </a:lnTo>
                <a:lnTo>
                  <a:pt x="0" y="14230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18836" y="9629424"/>
            <a:ext cx="1315151" cy="1315151"/>
          </a:xfrm>
          <a:custGeom>
            <a:avLst/>
            <a:gdLst/>
            <a:ahLst/>
            <a:cxnLst/>
            <a:rect r="r" b="b" t="t" l="l"/>
            <a:pathLst>
              <a:path h="1315151" w="1315151">
                <a:moveTo>
                  <a:pt x="0" y="0"/>
                </a:moveTo>
                <a:lnTo>
                  <a:pt x="1315151" y="0"/>
                </a:lnTo>
                <a:lnTo>
                  <a:pt x="1315151" y="1315151"/>
                </a:lnTo>
                <a:lnTo>
                  <a:pt x="0" y="13151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501244" y="2021443"/>
            <a:ext cx="9203950" cy="6910149"/>
            <a:chOff x="0" y="0"/>
            <a:chExt cx="12271934" cy="9213532"/>
          </a:xfrm>
        </p:grpSpPr>
        <p:sp>
          <p:nvSpPr>
            <p:cNvPr name="Freeform 6" id="6"/>
            <p:cNvSpPr/>
            <p:nvPr/>
          </p:nvSpPr>
          <p:spPr>
            <a:xfrm flipH="false" flipV="false" rot="0">
              <a:off x="0" y="0"/>
              <a:ext cx="12271883" cy="9213596"/>
            </a:xfrm>
            <a:custGeom>
              <a:avLst/>
              <a:gdLst/>
              <a:ahLst/>
              <a:cxnLst/>
              <a:rect r="r" b="b" t="t" l="l"/>
              <a:pathLst>
                <a:path h="9213596" w="12271883">
                  <a:moveTo>
                    <a:pt x="0" y="0"/>
                  </a:moveTo>
                  <a:lnTo>
                    <a:pt x="12271883" y="0"/>
                  </a:lnTo>
                  <a:lnTo>
                    <a:pt x="12271883" y="9213596"/>
                  </a:lnTo>
                  <a:lnTo>
                    <a:pt x="0" y="9213596"/>
                  </a:lnTo>
                  <a:lnTo>
                    <a:pt x="0" y="0"/>
                  </a:lnTo>
                  <a:close/>
                </a:path>
              </a:pathLst>
            </a:custGeom>
            <a:blipFill>
              <a:blip r:embed="rId8"/>
              <a:stretch>
                <a:fillRect l="0" t="-3745" r="0" b="-3744"/>
              </a:stretch>
            </a:blipFill>
          </p:spPr>
        </p:sp>
      </p:grpSp>
      <p:sp>
        <p:nvSpPr>
          <p:cNvPr name="TextBox 7" id="7"/>
          <p:cNvSpPr txBox="true"/>
          <p:nvPr/>
        </p:nvSpPr>
        <p:spPr>
          <a:xfrm rot="0">
            <a:off x="9705194" y="2533802"/>
            <a:ext cx="7294855" cy="6270450"/>
          </a:xfrm>
          <a:prstGeom prst="rect">
            <a:avLst/>
          </a:prstGeom>
        </p:spPr>
        <p:txBody>
          <a:bodyPr anchor="t" rtlCol="false" tIns="0" lIns="0" bIns="0" rIns="0">
            <a:spAutoFit/>
          </a:bodyPr>
          <a:lstStyle/>
          <a:p>
            <a:pPr algn="l" marL="541403" indent="-180468" lvl="2">
              <a:lnSpc>
                <a:spcPts val="3553"/>
              </a:lnSpc>
              <a:buFont typeface="Arial"/>
              <a:buChar char="⚬"/>
            </a:pPr>
            <a:r>
              <a:rPr lang="en-US" sz="2368">
                <a:solidFill>
                  <a:srgbClr val="B4B4B4"/>
                </a:solidFill>
                <a:latin typeface="Ovo"/>
                <a:ea typeface="Ovo"/>
                <a:cs typeface="Ovo"/>
                <a:sym typeface="Ovo"/>
              </a:rPr>
              <a:t>Libraries &amp; Models:</a:t>
            </a:r>
            <a:r>
              <a:rPr lang="en-US" sz="2368">
                <a:solidFill>
                  <a:srgbClr val="F5F7F7"/>
                </a:solidFill>
                <a:latin typeface="Ovo"/>
                <a:ea typeface="Ovo"/>
                <a:cs typeface="Ovo"/>
                <a:sym typeface="Ovo"/>
              </a:rPr>
              <a:t>  YOLOv8 for object detection, OpenCV for video, Pytesseract for OCR, Pyttsx3 for TTS.</a:t>
            </a:r>
          </a:p>
          <a:p>
            <a:pPr algn="l" marL="541403" indent="-180468" lvl="2">
              <a:lnSpc>
                <a:spcPts val="2984"/>
              </a:lnSpc>
              <a:buFont typeface="Arial"/>
              <a:buChar char="⚬"/>
            </a:pPr>
            <a:r>
              <a:rPr lang="en-US" sz="2368">
                <a:solidFill>
                  <a:srgbClr val="B4B4B4"/>
                </a:solidFill>
                <a:latin typeface="Ovo"/>
                <a:ea typeface="Ovo"/>
                <a:cs typeface="Ovo"/>
                <a:sym typeface="Ovo"/>
              </a:rPr>
              <a:t>Object Detection:</a:t>
            </a:r>
            <a:r>
              <a:rPr lang="en-US" sz="2368">
                <a:solidFill>
                  <a:srgbClr val="F5F7F7"/>
                </a:solidFill>
                <a:latin typeface="Ovo"/>
                <a:ea typeface="Ovo"/>
                <a:cs typeface="Ovo"/>
                <a:sym typeface="Ovo"/>
              </a:rPr>
              <a:t>   Camera captures live feed → YOLOv8 detects objects → bounding box size estimates distance (close/medium/far).</a:t>
            </a:r>
          </a:p>
          <a:p>
            <a:pPr algn="l" marL="541403" indent="-180468" lvl="2">
              <a:lnSpc>
                <a:spcPts val="2984"/>
              </a:lnSpc>
              <a:buFont typeface="Arial"/>
              <a:buChar char="⚬"/>
            </a:pPr>
            <a:r>
              <a:rPr lang="en-US" sz="2368">
                <a:solidFill>
                  <a:srgbClr val="B4B4B4"/>
                </a:solidFill>
                <a:latin typeface="Ovo"/>
                <a:ea typeface="Ovo"/>
                <a:cs typeface="Ovo"/>
                <a:sym typeface="Ovo"/>
              </a:rPr>
              <a:t>Tracking &amp; Movement:</a:t>
            </a:r>
            <a:r>
              <a:rPr lang="en-US" sz="2368">
                <a:solidFill>
                  <a:srgbClr val="F5F7F7"/>
                </a:solidFill>
                <a:latin typeface="Ovo"/>
                <a:ea typeface="Ovo"/>
                <a:cs typeface="Ovo"/>
                <a:sym typeface="Ovo"/>
              </a:rPr>
              <a:t>  Each object assigned ID → centroid tracked → direction &amp; speed calculated → speech alerts given at intervals.</a:t>
            </a:r>
          </a:p>
          <a:p>
            <a:pPr algn="l" marL="541403" indent="-180468" lvl="2">
              <a:lnSpc>
                <a:spcPts val="2984"/>
              </a:lnSpc>
              <a:buFont typeface="Arial"/>
              <a:buChar char="⚬"/>
            </a:pPr>
            <a:r>
              <a:rPr lang="en-US" sz="2368">
                <a:solidFill>
                  <a:srgbClr val="B4B4B4"/>
                </a:solidFill>
                <a:latin typeface="Ovo"/>
                <a:ea typeface="Ovo"/>
                <a:cs typeface="Ovo"/>
                <a:sym typeface="Ovo"/>
              </a:rPr>
              <a:t>Text Reading (OCR):</a:t>
            </a:r>
            <a:r>
              <a:rPr lang="en-US" sz="2368">
                <a:solidFill>
                  <a:srgbClr val="F5F7F7"/>
                </a:solidFill>
                <a:latin typeface="Ovo"/>
                <a:ea typeface="Ovo"/>
                <a:cs typeface="Ovo"/>
                <a:sym typeface="Ovo"/>
              </a:rPr>
              <a:t>   If a book is detected, text is extracted via Pytesseract and spoken aloud.</a:t>
            </a:r>
          </a:p>
          <a:p>
            <a:pPr algn="l" marL="541403" indent="-180468" lvl="2">
              <a:lnSpc>
                <a:spcPts val="2984"/>
              </a:lnSpc>
              <a:buFont typeface="Arial"/>
              <a:buChar char="⚬"/>
            </a:pPr>
            <a:r>
              <a:rPr lang="en-US" sz="2368">
                <a:solidFill>
                  <a:srgbClr val="B4B4B4"/>
                </a:solidFill>
                <a:latin typeface="Ovo"/>
                <a:ea typeface="Ovo"/>
                <a:cs typeface="Ovo"/>
                <a:sym typeface="Ovo"/>
              </a:rPr>
              <a:t>Speech Output:</a:t>
            </a:r>
            <a:r>
              <a:rPr lang="en-US" sz="2368">
                <a:solidFill>
                  <a:srgbClr val="F5F7F7"/>
                </a:solidFill>
                <a:latin typeface="Ovo"/>
                <a:ea typeface="Ovo"/>
                <a:cs typeface="Ovo"/>
                <a:sym typeface="Ovo"/>
              </a:rPr>
              <a:t>   Non-blocking TTS thread converts detections into clear real-time audio feedback.</a:t>
            </a:r>
          </a:p>
          <a:p>
            <a:pPr algn="l" marL="541403" indent="-180468" lvl="2">
              <a:lnSpc>
                <a:spcPts val="2984"/>
              </a:lnSpc>
              <a:buFont typeface="Arial"/>
              <a:buChar char="⚬"/>
            </a:pPr>
            <a:r>
              <a:rPr lang="en-US" sz="2368">
                <a:solidFill>
                  <a:srgbClr val="B4B4B4"/>
                </a:solidFill>
                <a:latin typeface="Ovo"/>
                <a:ea typeface="Ovo"/>
                <a:cs typeface="Ovo"/>
                <a:sym typeface="Ovo"/>
              </a:rPr>
              <a:t>Performance:</a:t>
            </a:r>
            <a:r>
              <a:rPr lang="en-US" sz="2368">
                <a:solidFill>
                  <a:srgbClr val="F5F7F7"/>
                </a:solidFill>
                <a:latin typeface="Ovo"/>
                <a:ea typeface="Ovo"/>
                <a:cs typeface="Ovo"/>
                <a:sym typeface="Ovo"/>
              </a:rPr>
              <a:t>   Runs ~30 FPS, real-time with visual + speech output.</a:t>
            </a:r>
          </a:p>
          <a:p>
            <a:pPr algn="l" marL="541403" indent="-180468" lvl="2">
              <a:lnSpc>
                <a:spcPts val="2984"/>
              </a:lnSpc>
            </a:pPr>
          </a:p>
        </p:txBody>
      </p:sp>
      <p:sp>
        <p:nvSpPr>
          <p:cNvPr name="TextBox 8" id="8"/>
          <p:cNvSpPr txBox="true"/>
          <p:nvPr/>
        </p:nvSpPr>
        <p:spPr>
          <a:xfrm rot="0">
            <a:off x="5691483" y="1084812"/>
            <a:ext cx="7737643" cy="588978"/>
          </a:xfrm>
          <a:prstGeom prst="rect">
            <a:avLst/>
          </a:prstGeom>
        </p:spPr>
        <p:txBody>
          <a:bodyPr anchor="t" rtlCol="false" tIns="0" lIns="0" bIns="0" rIns="0">
            <a:spAutoFit/>
          </a:bodyPr>
          <a:lstStyle/>
          <a:p>
            <a:pPr algn="l">
              <a:lnSpc>
                <a:spcPts val="5086"/>
              </a:lnSpc>
            </a:pPr>
            <a:r>
              <a:rPr lang="en-US" sz="5036" b="true">
                <a:solidFill>
                  <a:srgbClr val="F5F7F7"/>
                </a:solidFill>
                <a:latin typeface="Garet Bold"/>
                <a:ea typeface="Garet Bold"/>
                <a:cs typeface="Garet Bold"/>
                <a:sym typeface="Garet Bold"/>
              </a:rPr>
              <a:t>IMPLEMENTATION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E2024"/>
        </a:solidFill>
      </p:bgPr>
    </p:bg>
    <p:spTree>
      <p:nvGrpSpPr>
        <p:cNvPr id="1" name=""/>
        <p:cNvGrpSpPr/>
        <p:nvPr/>
      </p:nvGrpSpPr>
      <p:grpSpPr>
        <a:xfrm>
          <a:off x="0" y="0"/>
          <a:ext cx="0" cy="0"/>
          <a:chOff x="0" y="0"/>
          <a:chExt cx="0" cy="0"/>
        </a:xfrm>
      </p:grpSpPr>
      <p:sp>
        <p:nvSpPr>
          <p:cNvPr name="Freeform 2" id="2"/>
          <p:cNvSpPr/>
          <p:nvPr/>
        </p:nvSpPr>
        <p:spPr>
          <a:xfrm flipH="false" flipV="false" rot="0">
            <a:off x="15741709" y="-657303"/>
            <a:ext cx="3372004" cy="3372004"/>
          </a:xfrm>
          <a:custGeom>
            <a:avLst/>
            <a:gdLst/>
            <a:ahLst/>
            <a:cxnLst/>
            <a:rect r="r" b="b" t="t" l="l"/>
            <a:pathLst>
              <a:path h="3372004" w="3372004">
                <a:moveTo>
                  <a:pt x="0" y="0"/>
                </a:moveTo>
                <a:lnTo>
                  <a:pt x="3372005" y="0"/>
                </a:lnTo>
                <a:lnTo>
                  <a:pt x="3372005" y="3372005"/>
                </a:lnTo>
                <a:lnTo>
                  <a:pt x="0" y="33720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7318" y="812626"/>
            <a:ext cx="1423034" cy="1423034"/>
          </a:xfrm>
          <a:custGeom>
            <a:avLst/>
            <a:gdLst/>
            <a:ahLst/>
            <a:cxnLst/>
            <a:rect r="r" b="b" t="t" l="l"/>
            <a:pathLst>
              <a:path h="1423034" w="1423034">
                <a:moveTo>
                  <a:pt x="0" y="0"/>
                </a:moveTo>
                <a:lnTo>
                  <a:pt x="1423035" y="0"/>
                </a:lnTo>
                <a:lnTo>
                  <a:pt x="1423035" y="1423035"/>
                </a:lnTo>
                <a:lnTo>
                  <a:pt x="0" y="14230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18836" y="9629424"/>
            <a:ext cx="1315151" cy="1315151"/>
          </a:xfrm>
          <a:custGeom>
            <a:avLst/>
            <a:gdLst/>
            <a:ahLst/>
            <a:cxnLst/>
            <a:rect r="r" b="b" t="t" l="l"/>
            <a:pathLst>
              <a:path h="1315151" w="1315151">
                <a:moveTo>
                  <a:pt x="0" y="0"/>
                </a:moveTo>
                <a:lnTo>
                  <a:pt x="1315151" y="0"/>
                </a:lnTo>
                <a:lnTo>
                  <a:pt x="1315151" y="1315151"/>
                </a:lnTo>
                <a:lnTo>
                  <a:pt x="0" y="13151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38060" y="8606426"/>
            <a:ext cx="1315151" cy="1315151"/>
          </a:xfrm>
          <a:custGeom>
            <a:avLst/>
            <a:gdLst/>
            <a:ahLst/>
            <a:cxnLst/>
            <a:rect r="r" b="b" t="t" l="l"/>
            <a:pathLst>
              <a:path h="1315151" w="1315151">
                <a:moveTo>
                  <a:pt x="0" y="0"/>
                </a:moveTo>
                <a:lnTo>
                  <a:pt x="1315151" y="0"/>
                </a:lnTo>
                <a:lnTo>
                  <a:pt x="1315151" y="1315151"/>
                </a:lnTo>
                <a:lnTo>
                  <a:pt x="0" y="13151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3035941" y="244202"/>
            <a:ext cx="12833585" cy="10027348"/>
            <a:chOff x="0" y="0"/>
            <a:chExt cx="17111447" cy="13369798"/>
          </a:xfrm>
        </p:grpSpPr>
        <p:sp>
          <p:nvSpPr>
            <p:cNvPr name="Freeform 7" id="7"/>
            <p:cNvSpPr/>
            <p:nvPr/>
          </p:nvSpPr>
          <p:spPr>
            <a:xfrm flipH="false" flipV="false" rot="0">
              <a:off x="0" y="0"/>
              <a:ext cx="17111472" cy="13369798"/>
            </a:xfrm>
            <a:custGeom>
              <a:avLst/>
              <a:gdLst/>
              <a:ahLst/>
              <a:cxnLst/>
              <a:rect r="r" b="b" t="t" l="l"/>
              <a:pathLst>
                <a:path h="13369798" w="17111472">
                  <a:moveTo>
                    <a:pt x="0" y="0"/>
                  </a:moveTo>
                  <a:lnTo>
                    <a:pt x="17111472" y="0"/>
                  </a:lnTo>
                  <a:lnTo>
                    <a:pt x="17111472" y="13369798"/>
                  </a:lnTo>
                  <a:lnTo>
                    <a:pt x="0" y="13369798"/>
                  </a:lnTo>
                  <a:lnTo>
                    <a:pt x="0" y="0"/>
                  </a:lnTo>
                  <a:close/>
                </a:path>
              </a:pathLst>
            </a:custGeom>
            <a:blipFill>
              <a:blip r:embed="rId8"/>
              <a:stretch>
                <a:fillRect l="0" t="-6793" r="0" b="-6793"/>
              </a:stretch>
            </a:blipFill>
          </p:spPr>
        </p:sp>
      </p:grpSp>
      <p:sp>
        <p:nvSpPr>
          <p:cNvPr name="Freeform 8" id="8"/>
          <p:cNvSpPr/>
          <p:nvPr/>
        </p:nvSpPr>
        <p:spPr>
          <a:xfrm flipH="false" flipV="false" rot="0">
            <a:off x="-931395" y="5995934"/>
            <a:ext cx="2846070" cy="2846070"/>
          </a:xfrm>
          <a:custGeom>
            <a:avLst/>
            <a:gdLst/>
            <a:ahLst/>
            <a:cxnLst/>
            <a:rect r="r" b="b" t="t" l="l"/>
            <a:pathLst>
              <a:path h="2846070" w="2846070">
                <a:moveTo>
                  <a:pt x="0" y="0"/>
                </a:moveTo>
                <a:lnTo>
                  <a:pt x="2846071" y="0"/>
                </a:lnTo>
                <a:lnTo>
                  <a:pt x="2846071" y="2846071"/>
                </a:lnTo>
                <a:lnTo>
                  <a:pt x="0" y="284607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E2024"/>
        </a:solidFill>
      </p:bgPr>
    </p:bg>
    <p:spTree>
      <p:nvGrpSpPr>
        <p:cNvPr id="1" name=""/>
        <p:cNvGrpSpPr/>
        <p:nvPr/>
      </p:nvGrpSpPr>
      <p:grpSpPr>
        <a:xfrm>
          <a:off x="0" y="0"/>
          <a:ext cx="0" cy="0"/>
          <a:chOff x="0" y="0"/>
          <a:chExt cx="0" cy="0"/>
        </a:xfrm>
      </p:grpSpPr>
      <p:sp>
        <p:nvSpPr>
          <p:cNvPr name="Freeform 2" id="2"/>
          <p:cNvSpPr/>
          <p:nvPr/>
        </p:nvSpPr>
        <p:spPr>
          <a:xfrm flipH="false" flipV="false" rot="0">
            <a:off x="17748796" y="1600078"/>
            <a:ext cx="1423034" cy="1423034"/>
          </a:xfrm>
          <a:custGeom>
            <a:avLst/>
            <a:gdLst/>
            <a:ahLst/>
            <a:cxnLst/>
            <a:rect r="r" b="b" t="t" l="l"/>
            <a:pathLst>
              <a:path h="1423034" w="1423034">
                <a:moveTo>
                  <a:pt x="0" y="0"/>
                </a:moveTo>
                <a:lnTo>
                  <a:pt x="1423035" y="0"/>
                </a:lnTo>
                <a:lnTo>
                  <a:pt x="1423035" y="1423035"/>
                </a:lnTo>
                <a:lnTo>
                  <a:pt x="0" y="14230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67848" y="5919405"/>
            <a:ext cx="1423034" cy="1423034"/>
          </a:xfrm>
          <a:custGeom>
            <a:avLst/>
            <a:gdLst/>
            <a:ahLst/>
            <a:cxnLst/>
            <a:rect r="r" b="b" t="t" l="l"/>
            <a:pathLst>
              <a:path h="1423034" w="1423034">
                <a:moveTo>
                  <a:pt x="0" y="0"/>
                </a:moveTo>
                <a:lnTo>
                  <a:pt x="1423035" y="0"/>
                </a:lnTo>
                <a:lnTo>
                  <a:pt x="1423035" y="1423035"/>
                </a:lnTo>
                <a:lnTo>
                  <a:pt x="0" y="14230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18836" y="9629424"/>
            <a:ext cx="1315151" cy="1315151"/>
          </a:xfrm>
          <a:custGeom>
            <a:avLst/>
            <a:gdLst/>
            <a:ahLst/>
            <a:cxnLst/>
            <a:rect r="r" b="b" t="t" l="l"/>
            <a:pathLst>
              <a:path h="1315151" w="1315151">
                <a:moveTo>
                  <a:pt x="0" y="0"/>
                </a:moveTo>
                <a:lnTo>
                  <a:pt x="1315151" y="0"/>
                </a:lnTo>
                <a:lnTo>
                  <a:pt x="1315151" y="1315151"/>
                </a:lnTo>
                <a:lnTo>
                  <a:pt x="0" y="13151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38060" y="8606426"/>
            <a:ext cx="1315151" cy="1315151"/>
          </a:xfrm>
          <a:custGeom>
            <a:avLst/>
            <a:gdLst/>
            <a:ahLst/>
            <a:cxnLst/>
            <a:rect r="r" b="b" t="t" l="l"/>
            <a:pathLst>
              <a:path h="1315151" w="1315151">
                <a:moveTo>
                  <a:pt x="0" y="0"/>
                </a:moveTo>
                <a:lnTo>
                  <a:pt x="1315151" y="0"/>
                </a:lnTo>
                <a:lnTo>
                  <a:pt x="1315151" y="1315151"/>
                </a:lnTo>
                <a:lnTo>
                  <a:pt x="0" y="13151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0" y="1654016"/>
            <a:ext cx="9144000" cy="5750690"/>
            <a:chOff x="0" y="0"/>
            <a:chExt cx="12192000" cy="7667587"/>
          </a:xfrm>
        </p:grpSpPr>
        <p:sp>
          <p:nvSpPr>
            <p:cNvPr name="Freeform 7" id="7"/>
            <p:cNvSpPr/>
            <p:nvPr/>
          </p:nvSpPr>
          <p:spPr>
            <a:xfrm flipH="false" flipV="false" rot="0">
              <a:off x="0" y="0"/>
              <a:ext cx="12192000" cy="7667625"/>
            </a:xfrm>
            <a:custGeom>
              <a:avLst/>
              <a:gdLst/>
              <a:ahLst/>
              <a:cxnLst/>
              <a:rect r="r" b="b" t="t" l="l"/>
              <a:pathLst>
                <a:path h="7667625" w="12192000">
                  <a:moveTo>
                    <a:pt x="0" y="0"/>
                  </a:moveTo>
                  <a:lnTo>
                    <a:pt x="12192000" y="0"/>
                  </a:lnTo>
                  <a:lnTo>
                    <a:pt x="12192000" y="7667625"/>
                  </a:lnTo>
                  <a:lnTo>
                    <a:pt x="0" y="7667625"/>
                  </a:lnTo>
                  <a:lnTo>
                    <a:pt x="0" y="0"/>
                  </a:lnTo>
                  <a:close/>
                </a:path>
              </a:pathLst>
            </a:custGeom>
            <a:blipFill>
              <a:blip r:embed="rId8"/>
              <a:stretch>
                <a:fillRect l="-5902" t="0" r="-5902" b="0"/>
              </a:stretch>
            </a:blipFill>
          </p:spPr>
        </p:sp>
      </p:grpSp>
      <p:grpSp>
        <p:nvGrpSpPr>
          <p:cNvPr name="Group 8" id="8"/>
          <p:cNvGrpSpPr/>
          <p:nvPr/>
        </p:nvGrpSpPr>
        <p:grpSpPr>
          <a:xfrm rot="0">
            <a:off x="9538440" y="4253722"/>
            <a:ext cx="8176832" cy="5667861"/>
            <a:chOff x="0" y="0"/>
            <a:chExt cx="10902442" cy="7557148"/>
          </a:xfrm>
        </p:grpSpPr>
        <p:sp>
          <p:nvSpPr>
            <p:cNvPr name="Freeform 9" id="9"/>
            <p:cNvSpPr/>
            <p:nvPr/>
          </p:nvSpPr>
          <p:spPr>
            <a:xfrm flipH="false" flipV="false" rot="0">
              <a:off x="0" y="0"/>
              <a:ext cx="10902442" cy="7557135"/>
            </a:xfrm>
            <a:custGeom>
              <a:avLst/>
              <a:gdLst/>
              <a:ahLst/>
              <a:cxnLst/>
              <a:rect r="r" b="b" t="t" l="l"/>
              <a:pathLst>
                <a:path h="7557135" w="10902442">
                  <a:moveTo>
                    <a:pt x="0" y="0"/>
                  </a:moveTo>
                  <a:lnTo>
                    <a:pt x="10902442" y="0"/>
                  </a:lnTo>
                  <a:lnTo>
                    <a:pt x="10902442" y="7557135"/>
                  </a:lnTo>
                  <a:lnTo>
                    <a:pt x="0" y="7557135"/>
                  </a:lnTo>
                  <a:lnTo>
                    <a:pt x="0" y="0"/>
                  </a:lnTo>
                  <a:close/>
                </a:path>
              </a:pathLst>
            </a:custGeom>
            <a:blipFill>
              <a:blip r:embed="rId9"/>
              <a:stretch>
                <a:fillRect l="0" t="-2338" r="0" b="-2339"/>
              </a:stretch>
            </a:blipFill>
          </p:spPr>
        </p:sp>
      </p:grpSp>
      <p:sp>
        <p:nvSpPr>
          <p:cNvPr name="TextBox 10" id="10"/>
          <p:cNvSpPr txBox="true"/>
          <p:nvPr/>
        </p:nvSpPr>
        <p:spPr>
          <a:xfrm rot="0">
            <a:off x="7214044" y="665778"/>
            <a:ext cx="4648781" cy="569204"/>
          </a:xfrm>
          <a:prstGeom prst="rect">
            <a:avLst/>
          </a:prstGeom>
        </p:spPr>
        <p:txBody>
          <a:bodyPr anchor="t" rtlCol="false" tIns="0" lIns="0" bIns="0" rIns="0">
            <a:spAutoFit/>
          </a:bodyPr>
          <a:lstStyle/>
          <a:p>
            <a:pPr algn="l">
              <a:lnSpc>
                <a:spcPts val="5086"/>
              </a:lnSpc>
            </a:pPr>
            <a:r>
              <a:rPr lang="en-US" sz="5036" b="true">
                <a:solidFill>
                  <a:srgbClr val="F5F7F7"/>
                </a:solidFill>
                <a:latin typeface="Garet Bold"/>
                <a:ea typeface="Garet Bold"/>
                <a:cs typeface="Garet Bold"/>
                <a:sym typeface="Garet Bold"/>
              </a:rPr>
              <a:t>PROTOTYPE</a:t>
            </a:r>
          </a:p>
        </p:txBody>
      </p:sp>
      <p:sp>
        <p:nvSpPr>
          <p:cNvPr name="TextBox 11" id="11"/>
          <p:cNvSpPr txBox="true"/>
          <p:nvPr/>
        </p:nvSpPr>
        <p:spPr>
          <a:xfrm rot="0">
            <a:off x="9538440" y="2950121"/>
            <a:ext cx="3025731" cy="466725"/>
          </a:xfrm>
          <a:prstGeom prst="rect">
            <a:avLst/>
          </a:prstGeom>
        </p:spPr>
        <p:txBody>
          <a:bodyPr anchor="t" rtlCol="false" tIns="0" lIns="0" bIns="0" rIns="0">
            <a:spAutoFit/>
          </a:bodyPr>
          <a:lstStyle/>
          <a:p>
            <a:pPr algn="ctr">
              <a:lnSpc>
                <a:spcPts val="3598"/>
              </a:lnSpc>
            </a:pPr>
            <a:r>
              <a:rPr lang="en-US" sz="2999">
                <a:solidFill>
                  <a:srgbClr val="F5F7F7"/>
                </a:solidFill>
                <a:latin typeface="Ovo"/>
                <a:ea typeface="Ovo"/>
                <a:cs typeface="Ovo"/>
                <a:sym typeface="Ovo"/>
              </a:rPr>
              <a:t>Image recognition</a:t>
            </a:r>
          </a:p>
        </p:txBody>
      </p:sp>
      <p:sp>
        <p:nvSpPr>
          <p:cNvPr name="TextBox 12" id="12"/>
          <p:cNvSpPr txBox="true"/>
          <p:nvPr/>
        </p:nvSpPr>
        <p:spPr>
          <a:xfrm rot="0">
            <a:off x="6427765" y="7804766"/>
            <a:ext cx="2406729" cy="466725"/>
          </a:xfrm>
          <a:prstGeom prst="rect">
            <a:avLst/>
          </a:prstGeom>
        </p:spPr>
        <p:txBody>
          <a:bodyPr anchor="t" rtlCol="false" tIns="0" lIns="0" bIns="0" rIns="0">
            <a:spAutoFit/>
          </a:bodyPr>
          <a:lstStyle/>
          <a:p>
            <a:pPr algn="ctr">
              <a:lnSpc>
                <a:spcPts val="3598"/>
              </a:lnSpc>
            </a:pPr>
            <a:r>
              <a:rPr lang="en-US" sz="2999">
                <a:solidFill>
                  <a:srgbClr val="F5F7F7"/>
                </a:solidFill>
                <a:latin typeface="Ovo"/>
                <a:ea typeface="Ovo"/>
                <a:cs typeface="Ovo"/>
                <a:sym typeface="Ovo"/>
              </a:rPr>
              <a:t>Text to speech</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E2024"/>
        </a:solidFill>
      </p:bgPr>
    </p:bg>
    <p:spTree>
      <p:nvGrpSpPr>
        <p:cNvPr id="1" name=""/>
        <p:cNvGrpSpPr/>
        <p:nvPr/>
      </p:nvGrpSpPr>
      <p:grpSpPr>
        <a:xfrm>
          <a:off x="0" y="0"/>
          <a:ext cx="0" cy="0"/>
          <a:chOff x="0" y="0"/>
          <a:chExt cx="0" cy="0"/>
        </a:xfrm>
      </p:grpSpPr>
      <p:sp>
        <p:nvSpPr>
          <p:cNvPr name="Freeform 2" id="2"/>
          <p:cNvSpPr/>
          <p:nvPr/>
        </p:nvSpPr>
        <p:spPr>
          <a:xfrm flipH="false" flipV="false" rot="0">
            <a:off x="17748796" y="1600078"/>
            <a:ext cx="1423034" cy="1423034"/>
          </a:xfrm>
          <a:custGeom>
            <a:avLst/>
            <a:gdLst/>
            <a:ahLst/>
            <a:cxnLst/>
            <a:rect r="r" b="b" t="t" l="l"/>
            <a:pathLst>
              <a:path h="1423034" w="1423034">
                <a:moveTo>
                  <a:pt x="0" y="0"/>
                </a:moveTo>
                <a:lnTo>
                  <a:pt x="1423035" y="0"/>
                </a:lnTo>
                <a:lnTo>
                  <a:pt x="1423035" y="1423035"/>
                </a:lnTo>
                <a:lnTo>
                  <a:pt x="0" y="14230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67848" y="5919405"/>
            <a:ext cx="1423034" cy="1423034"/>
          </a:xfrm>
          <a:custGeom>
            <a:avLst/>
            <a:gdLst/>
            <a:ahLst/>
            <a:cxnLst/>
            <a:rect r="r" b="b" t="t" l="l"/>
            <a:pathLst>
              <a:path h="1423034" w="1423034">
                <a:moveTo>
                  <a:pt x="0" y="0"/>
                </a:moveTo>
                <a:lnTo>
                  <a:pt x="1423035" y="0"/>
                </a:lnTo>
                <a:lnTo>
                  <a:pt x="1423035" y="1423035"/>
                </a:lnTo>
                <a:lnTo>
                  <a:pt x="0" y="14230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18836" y="9629424"/>
            <a:ext cx="1315151" cy="1315151"/>
          </a:xfrm>
          <a:custGeom>
            <a:avLst/>
            <a:gdLst/>
            <a:ahLst/>
            <a:cxnLst/>
            <a:rect r="r" b="b" t="t" l="l"/>
            <a:pathLst>
              <a:path h="1315151" w="1315151">
                <a:moveTo>
                  <a:pt x="0" y="0"/>
                </a:moveTo>
                <a:lnTo>
                  <a:pt x="1315151" y="0"/>
                </a:lnTo>
                <a:lnTo>
                  <a:pt x="1315151" y="1315151"/>
                </a:lnTo>
                <a:lnTo>
                  <a:pt x="0" y="13151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38060" y="8606426"/>
            <a:ext cx="1315151" cy="1315151"/>
          </a:xfrm>
          <a:custGeom>
            <a:avLst/>
            <a:gdLst/>
            <a:ahLst/>
            <a:cxnLst/>
            <a:rect r="r" b="b" t="t" l="l"/>
            <a:pathLst>
              <a:path h="1315151" w="1315151">
                <a:moveTo>
                  <a:pt x="0" y="0"/>
                </a:moveTo>
                <a:lnTo>
                  <a:pt x="1315151" y="0"/>
                </a:lnTo>
                <a:lnTo>
                  <a:pt x="1315151" y="1315151"/>
                </a:lnTo>
                <a:lnTo>
                  <a:pt x="0" y="13151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250604" y="3288963"/>
            <a:ext cx="6887908" cy="5103200"/>
            <a:chOff x="0" y="0"/>
            <a:chExt cx="9183878" cy="6804266"/>
          </a:xfrm>
        </p:grpSpPr>
        <p:sp>
          <p:nvSpPr>
            <p:cNvPr name="Freeform 7" id="7"/>
            <p:cNvSpPr/>
            <p:nvPr/>
          </p:nvSpPr>
          <p:spPr>
            <a:xfrm flipH="false" flipV="false" rot="0">
              <a:off x="0" y="0"/>
              <a:ext cx="9183878" cy="6804279"/>
            </a:xfrm>
            <a:custGeom>
              <a:avLst/>
              <a:gdLst/>
              <a:ahLst/>
              <a:cxnLst/>
              <a:rect r="r" b="b" t="t" l="l"/>
              <a:pathLst>
                <a:path h="6804279" w="9183878">
                  <a:moveTo>
                    <a:pt x="0" y="0"/>
                  </a:moveTo>
                  <a:lnTo>
                    <a:pt x="9183878" y="0"/>
                  </a:lnTo>
                  <a:lnTo>
                    <a:pt x="9183878" y="6804279"/>
                  </a:lnTo>
                  <a:lnTo>
                    <a:pt x="0" y="6804279"/>
                  </a:lnTo>
                  <a:lnTo>
                    <a:pt x="0" y="0"/>
                  </a:lnTo>
                  <a:close/>
                </a:path>
              </a:pathLst>
            </a:custGeom>
            <a:blipFill>
              <a:blip r:embed="rId8"/>
              <a:stretch>
                <a:fillRect l="0" t="-7488" r="0" b="-7487"/>
              </a:stretch>
            </a:blipFill>
          </p:spPr>
        </p:sp>
      </p:grpSp>
      <p:grpSp>
        <p:nvGrpSpPr>
          <p:cNvPr name="Group 8" id="8"/>
          <p:cNvGrpSpPr/>
          <p:nvPr/>
        </p:nvGrpSpPr>
        <p:grpSpPr>
          <a:xfrm rot="0">
            <a:off x="8481327" y="3288963"/>
            <a:ext cx="8444351" cy="5773360"/>
            <a:chOff x="0" y="0"/>
            <a:chExt cx="11259134" cy="7697813"/>
          </a:xfrm>
        </p:grpSpPr>
        <p:sp>
          <p:nvSpPr>
            <p:cNvPr name="Freeform 9" id="9"/>
            <p:cNvSpPr/>
            <p:nvPr/>
          </p:nvSpPr>
          <p:spPr>
            <a:xfrm flipH="false" flipV="false" rot="0">
              <a:off x="0" y="0"/>
              <a:ext cx="11259185" cy="7697851"/>
            </a:xfrm>
            <a:custGeom>
              <a:avLst/>
              <a:gdLst/>
              <a:ahLst/>
              <a:cxnLst/>
              <a:rect r="r" b="b" t="t" l="l"/>
              <a:pathLst>
                <a:path h="7697851" w="11259185">
                  <a:moveTo>
                    <a:pt x="0" y="0"/>
                  </a:moveTo>
                  <a:lnTo>
                    <a:pt x="11259185" y="0"/>
                  </a:lnTo>
                  <a:lnTo>
                    <a:pt x="11259185" y="7697851"/>
                  </a:lnTo>
                  <a:lnTo>
                    <a:pt x="0" y="7697851"/>
                  </a:lnTo>
                  <a:lnTo>
                    <a:pt x="0" y="0"/>
                  </a:lnTo>
                  <a:close/>
                </a:path>
              </a:pathLst>
            </a:custGeom>
            <a:blipFill>
              <a:blip r:embed="rId9"/>
              <a:stretch>
                <a:fillRect l="0" t="-7557" r="0" b="-7557"/>
              </a:stretch>
            </a:blipFill>
          </p:spPr>
        </p:sp>
      </p:grpSp>
      <p:sp>
        <p:nvSpPr>
          <p:cNvPr name="TextBox 10" id="10"/>
          <p:cNvSpPr txBox="true"/>
          <p:nvPr/>
        </p:nvSpPr>
        <p:spPr>
          <a:xfrm rot="0">
            <a:off x="1250604" y="2137239"/>
            <a:ext cx="2993136" cy="384934"/>
          </a:xfrm>
          <a:prstGeom prst="rect">
            <a:avLst/>
          </a:prstGeom>
        </p:spPr>
        <p:txBody>
          <a:bodyPr anchor="t" rtlCol="false" tIns="0" lIns="0" bIns="0" rIns="0">
            <a:spAutoFit/>
          </a:bodyPr>
          <a:lstStyle/>
          <a:p>
            <a:pPr algn="l" marL="536381" indent="-178794" lvl="2">
              <a:lnSpc>
                <a:spcPts val="2956"/>
              </a:lnSpc>
              <a:buAutoNum type="arabicPeriod" startAt="1"/>
            </a:pPr>
            <a:r>
              <a:rPr lang="en-US" sz="2346">
                <a:solidFill>
                  <a:srgbClr val="F5F7F7"/>
                </a:solidFill>
                <a:latin typeface="Ovo"/>
                <a:ea typeface="Ovo"/>
                <a:cs typeface="Ovo"/>
                <a:sym typeface="Ovo"/>
              </a:rPr>
              <a:t> Value Proposition</a:t>
            </a:r>
          </a:p>
        </p:txBody>
      </p:sp>
      <p:sp>
        <p:nvSpPr>
          <p:cNvPr name="TextBox 11" id="11"/>
          <p:cNvSpPr txBox="true"/>
          <p:nvPr/>
        </p:nvSpPr>
        <p:spPr>
          <a:xfrm rot="0">
            <a:off x="1476413" y="839343"/>
            <a:ext cx="5986272" cy="569204"/>
          </a:xfrm>
          <a:prstGeom prst="rect">
            <a:avLst/>
          </a:prstGeom>
        </p:spPr>
        <p:txBody>
          <a:bodyPr anchor="t" rtlCol="false" tIns="0" lIns="0" bIns="0" rIns="0">
            <a:spAutoFit/>
          </a:bodyPr>
          <a:lstStyle/>
          <a:p>
            <a:pPr algn="l">
              <a:lnSpc>
                <a:spcPts val="5086"/>
              </a:lnSpc>
            </a:pPr>
            <a:r>
              <a:rPr lang="en-US" sz="5036" b="true">
                <a:solidFill>
                  <a:srgbClr val="F5F7F7"/>
                </a:solidFill>
                <a:latin typeface="Garet Bold"/>
                <a:ea typeface="Garet Bold"/>
                <a:cs typeface="Garet Bold"/>
                <a:sym typeface="Garet Bold"/>
              </a:rPr>
              <a:t>BUSINESS MODEL</a:t>
            </a:r>
          </a:p>
        </p:txBody>
      </p:sp>
      <p:sp>
        <p:nvSpPr>
          <p:cNvPr name="TextBox 12" id="12"/>
          <p:cNvSpPr txBox="true"/>
          <p:nvPr/>
        </p:nvSpPr>
        <p:spPr>
          <a:xfrm rot="0">
            <a:off x="8909904" y="2137239"/>
            <a:ext cx="2993136" cy="384934"/>
          </a:xfrm>
          <a:prstGeom prst="rect">
            <a:avLst/>
          </a:prstGeom>
        </p:spPr>
        <p:txBody>
          <a:bodyPr anchor="t" rtlCol="false" tIns="0" lIns="0" bIns="0" rIns="0">
            <a:spAutoFit/>
          </a:bodyPr>
          <a:lstStyle/>
          <a:p>
            <a:pPr algn="l">
              <a:lnSpc>
                <a:spcPts val="2956"/>
              </a:lnSpc>
            </a:pPr>
            <a:r>
              <a:rPr lang="en-US" sz="2346">
                <a:solidFill>
                  <a:srgbClr val="F5F7F7"/>
                </a:solidFill>
                <a:latin typeface="Ovo"/>
                <a:ea typeface="Ovo"/>
                <a:cs typeface="Ovo"/>
                <a:sym typeface="Ovo"/>
              </a:rPr>
              <a:t>2. Customer Segments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E2024"/>
        </a:solidFill>
      </p:bgPr>
    </p:bg>
    <p:spTree>
      <p:nvGrpSpPr>
        <p:cNvPr id="1" name=""/>
        <p:cNvGrpSpPr/>
        <p:nvPr/>
      </p:nvGrpSpPr>
      <p:grpSpPr>
        <a:xfrm>
          <a:off x="0" y="0"/>
          <a:ext cx="0" cy="0"/>
          <a:chOff x="0" y="0"/>
          <a:chExt cx="0" cy="0"/>
        </a:xfrm>
      </p:grpSpPr>
      <p:sp>
        <p:nvSpPr>
          <p:cNvPr name="Freeform 2" id="2"/>
          <p:cNvSpPr/>
          <p:nvPr/>
        </p:nvSpPr>
        <p:spPr>
          <a:xfrm flipH="false" flipV="false" rot="0">
            <a:off x="17748796" y="1600078"/>
            <a:ext cx="1423034" cy="1423034"/>
          </a:xfrm>
          <a:custGeom>
            <a:avLst/>
            <a:gdLst/>
            <a:ahLst/>
            <a:cxnLst/>
            <a:rect r="r" b="b" t="t" l="l"/>
            <a:pathLst>
              <a:path h="1423034" w="1423034">
                <a:moveTo>
                  <a:pt x="0" y="0"/>
                </a:moveTo>
                <a:lnTo>
                  <a:pt x="1423035" y="0"/>
                </a:lnTo>
                <a:lnTo>
                  <a:pt x="1423035" y="1423035"/>
                </a:lnTo>
                <a:lnTo>
                  <a:pt x="0" y="14230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67848" y="5919405"/>
            <a:ext cx="1423034" cy="1423034"/>
          </a:xfrm>
          <a:custGeom>
            <a:avLst/>
            <a:gdLst/>
            <a:ahLst/>
            <a:cxnLst/>
            <a:rect r="r" b="b" t="t" l="l"/>
            <a:pathLst>
              <a:path h="1423034" w="1423034">
                <a:moveTo>
                  <a:pt x="0" y="0"/>
                </a:moveTo>
                <a:lnTo>
                  <a:pt x="1423035" y="0"/>
                </a:lnTo>
                <a:lnTo>
                  <a:pt x="1423035" y="1423035"/>
                </a:lnTo>
                <a:lnTo>
                  <a:pt x="0" y="14230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18836" y="9629424"/>
            <a:ext cx="1315151" cy="1315151"/>
          </a:xfrm>
          <a:custGeom>
            <a:avLst/>
            <a:gdLst/>
            <a:ahLst/>
            <a:cxnLst/>
            <a:rect r="r" b="b" t="t" l="l"/>
            <a:pathLst>
              <a:path h="1315151" w="1315151">
                <a:moveTo>
                  <a:pt x="0" y="0"/>
                </a:moveTo>
                <a:lnTo>
                  <a:pt x="1315151" y="0"/>
                </a:lnTo>
                <a:lnTo>
                  <a:pt x="1315151" y="1315151"/>
                </a:lnTo>
                <a:lnTo>
                  <a:pt x="0" y="13151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38060" y="8606426"/>
            <a:ext cx="1315151" cy="1315151"/>
          </a:xfrm>
          <a:custGeom>
            <a:avLst/>
            <a:gdLst/>
            <a:ahLst/>
            <a:cxnLst/>
            <a:rect r="r" b="b" t="t" l="l"/>
            <a:pathLst>
              <a:path h="1315151" w="1315151">
                <a:moveTo>
                  <a:pt x="0" y="0"/>
                </a:moveTo>
                <a:lnTo>
                  <a:pt x="1315151" y="0"/>
                </a:lnTo>
                <a:lnTo>
                  <a:pt x="1315151" y="1315151"/>
                </a:lnTo>
                <a:lnTo>
                  <a:pt x="0" y="13151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4904584" y="996248"/>
            <a:ext cx="11301260" cy="4630274"/>
            <a:chOff x="0" y="0"/>
            <a:chExt cx="15068347" cy="6173699"/>
          </a:xfrm>
        </p:grpSpPr>
        <p:sp>
          <p:nvSpPr>
            <p:cNvPr name="Freeform 7" id="7"/>
            <p:cNvSpPr/>
            <p:nvPr/>
          </p:nvSpPr>
          <p:spPr>
            <a:xfrm flipH="false" flipV="false" rot="0">
              <a:off x="0" y="0"/>
              <a:ext cx="15068296" cy="6173724"/>
            </a:xfrm>
            <a:custGeom>
              <a:avLst/>
              <a:gdLst/>
              <a:ahLst/>
              <a:cxnLst/>
              <a:rect r="r" b="b" t="t" l="l"/>
              <a:pathLst>
                <a:path h="6173724" w="15068296">
                  <a:moveTo>
                    <a:pt x="0" y="0"/>
                  </a:moveTo>
                  <a:lnTo>
                    <a:pt x="15068296" y="0"/>
                  </a:lnTo>
                  <a:lnTo>
                    <a:pt x="15068296" y="6173724"/>
                  </a:lnTo>
                  <a:lnTo>
                    <a:pt x="0" y="6173724"/>
                  </a:lnTo>
                  <a:lnTo>
                    <a:pt x="0" y="0"/>
                  </a:lnTo>
                  <a:close/>
                </a:path>
              </a:pathLst>
            </a:custGeom>
            <a:blipFill>
              <a:blip r:embed="rId8"/>
              <a:stretch>
                <a:fillRect l="0" t="-10889" r="0" b="-10889"/>
              </a:stretch>
            </a:blipFill>
          </p:spPr>
        </p:sp>
      </p:grpSp>
      <p:grpSp>
        <p:nvGrpSpPr>
          <p:cNvPr name="Group 8" id="8"/>
          <p:cNvGrpSpPr/>
          <p:nvPr/>
        </p:nvGrpSpPr>
        <p:grpSpPr>
          <a:xfrm rot="0">
            <a:off x="5954735" y="5626513"/>
            <a:ext cx="9200969" cy="4534710"/>
            <a:chOff x="0" y="0"/>
            <a:chExt cx="12267959" cy="6046280"/>
          </a:xfrm>
        </p:grpSpPr>
        <p:sp>
          <p:nvSpPr>
            <p:cNvPr name="Freeform 9" id="9"/>
            <p:cNvSpPr/>
            <p:nvPr/>
          </p:nvSpPr>
          <p:spPr>
            <a:xfrm flipH="false" flipV="false" rot="0">
              <a:off x="0" y="0"/>
              <a:ext cx="12267946" cy="6046216"/>
            </a:xfrm>
            <a:custGeom>
              <a:avLst/>
              <a:gdLst/>
              <a:ahLst/>
              <a:cxnLst/>
              <a:rect r="r" b="b" t="t" l="l"/>
              <a:pathLst>
                <a:path h="6046216" w="12267946">
                  <a:moveTo>
                    <a:pt x="0" y="0"/>
                  </a:moveTo>
                  <a:lnTo>
                    <a:pt x="12267946" y="0"/>
                  </a:lnTo>
                  <a:lnTo>
                    <a:pt x="12267946" y="6046216"/>
                  </a:lnTo>
                  <a:lnTo>
                    <a:pt x="0" y="6046216"/>
                  </a:lnTo>
                  <a:lnTo>
                    <a:pt x="0" y="0"/>
                  </a:lnTo>
                  <a:close/>
                </a:path>
              </a:pathLst>
            </a:custGeom>
            <a:blipFill>
              <a:blip r:embed="rId9"/>
              <a:stretch>
                <a:fillRect l="0" t="-13406" r="0" b="-13407"/>
              </a:stretch>
            </a:blipFill>
          </p:spPr>
        </p:sp>
      </p:grpSp>
      <p:sp>
        <p:nvSpPr>
          <p:cNvPr name="TextBox 10" id="10"/>
          <p:cNvSpPr txBox="true"/>
          <p:nvPr/>
        </p:nvSpPr>
        <p:spPr>
          <a:xfrm rot="0">
            <a:off x="1476413" y="1269092"/>
            <a:ext cx="2993136" cy="384934"/>
          </a:xfrm>
          <a:prstGeom prst="rect">
            <a:avLst/>
          </a:prstGeom>
        </p:spPr>
        <p:txBody>
          <a:bodyPr anchor="t" rtlCol="false" tIns="0" lIns="0" bIns="0" rIns="0">
            <a:spAutoFit/>
          </a:bodyPr>
          <a:lstStyle/>
          <a:p>
            <a:pPr algn="l">
              <a:lnSpc>
                <a:spcPts val="2956"/>
              </a:lnSpc>
            </a:pPr>
            <a:r>
              <a:rPr lang="en-US" sz="2346">
                <a:solidFill>
                  <a:srgbClr val="F5F7F7"/>
                </a:solidFill>
                <a:latin typeface="Ovo"/>
                <a:ea typeface="Ovo"/>
                <a:cs typeface="Ovo"/>
                <a:sym typeface="Ovo"/>
              </a:rPr>
              <a:t>3. Revenue Streams</a:t>
            </a:r>
          </a:p>
        </p:txBody>
      </p:sp>
      <p:sp>
        <p:nvSpPr>
          <p:cNvPr name="TextBox 11" id="11"/>
          <p:cNvSpPr txBox="true"/>
          <p:nvPr/>
        </p:nvSpPr>
        <p:spPr>
          <a:xfrm rot="0">
            <a:off x="1476413" y="5881278"/>
            <a:ext cx="4478322" cy="749646"/>
          </a:xfrm>
          <a:prstGeom prst="rect">
            <a:avLst/>
          </a:prstGeom>
        </p:spPr>
        <p:txBody>
          <a:bodyPr anchor="t" rtlCol="false" tIns="0" lIns="0" bIns="0" rIns="0">
            <a:spAutoFit/>
          </a:bodyPr>
          <a:lstStyle/>
          <a:p>
            <a:pPr algn="l">
              <a:lnSpc>
                <a:spcPts val="2956"/>
              </a:lnSpc>
            </a:pPr>
            <a:r>
              <a:rPr lang="en-US" sz="2346">
                <a:solidFill>
                  <a:srgbClr val="F5F7F7"/>
                </a:solidFill>
                <a:latin typeface="Ovo"/>
                <a:ea typeface="Ovo"/>
                <a:cs typeface="Ovo"/>
                <a:sym typeface="Ovo"/>
              </a:rPr>
              <a:t>4. Key Resources (Cost Estimates)</a:t>
            </a:r>
          </a:p>
          <a:p>
            <a:pPr algn="l">
              <a:lnSpc>
                <a:spcPts val="2956"/>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E2024"/>
        </a:solidFill>
      </p:bgPr>
    </p:bg>
    <p:spTree>
      <p:nvGrpSpPr>
        <p:cNvPr id="1" name=""/>
        <p:cNvGrpSpPr/>
        <p:nvPr/>
      </p:nvGrpSpPr>
      <p:grpSpPr>
        <a:xfrm>
          <a:off x="0" y="0"/>
          <a:ext cx="0" cy="0"/>
          <a:chOff x="0" y="0"/>
          <a:chExt cx="0" cy="0"/>
        </a:xfrm>
      </p:grpSpPr>
      <p:sp>
        <p:nvSpPr>
          <p:cNvPr name="Freeform 2" id="2"/>
          <p:cNvSpPr/>
          <p:nvPr/>
        </p:nvSpPr>
        <p:spPr>
          <a:xfrm flipH="false" flipV="false" rot="0">
            <a:off x="17748796" y="1600078"/>
            <a:ext cx="1423034" cy="1423034"/>
          </a:xfrm>
          <a:custGeom>
            <a:avLst/>
            <a:gdLst/>
            <a:ahLst/>
            <a:cxnLst/>
            <a:rect r="r" b="b" t="t" l="l"/>
            <a:pathLst>
              <a:path h="1423034" w="1423034">
                <a:moveTo>
                  <a:pt x="0" y="0"/>
                </a:moveTo>
                <a:lnTo>
                  <a:pt x="1423035" y="0"/>
                </a:lnTo>
                <a:lnTo>
                  <a:pt x="1423035" y="1423035"/>
                </a:lnTo>
                <a:lnTo>
                  <a:pt x="0" y="14230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67848" y="5919405"/>
            <a:ext cx="1423034" cy="1423034"/>
          </a:xfrm>
          <a:custGeom>
            <a:avLst/>
            <a:gdLst/>
            <a:ahLst/>
            <a:cxnLst/>
            <a:rect r="r" b="b" t="t" l="l"/>
            <a:pathLst>
              <a:path h="1423034" w="1423034">
                <a:moveTo>
                  <a:pt x="0" y="0"/>
                </a:moveTo>
                <a:lnTo>
                  <a:pt x="1423035" y="0"/>
                </a:lnTo>
                <a:lnTo>
                  <a:pt x="1423035" y="1423035"/>
                </a:lnTo>
                <a:lnTo>
                  <a:pt x="0" y="14230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18836" y="9629424"/>
            <a:ext cx="1315151" cy="1315151"/>
          </a:xfrm>
          <a:custGeom>
            <a:avLst/>
            <a:gdLst/>
            <a:ahLst/>
            <a:cxnLst/>
            <a:rect r="r" b="b" t="t" l="l"/>
            <a:pathLst>
              <a:path h="1315151" w="1315151">
                <a:moveTo>
                  <a:pt x="0" y="0"/>
                </a:moveTo>
                <a:lnTo>
                  <a:pt x="1315151" y="0"/>
                </a:lnTo>
                <a:lnTo>
                  <a:pt x="1315151" y="1315151"/>
                </a:lnTo>
                <a:lnTo>
                  <a:pt x="0" y="13151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67954" y="5973347"/>
            <a:ext cx="9666122" cy="4473550"/>
            <a:chOff x="0" y="0"/>
            <a:chExt cx="12888163" cy="5964733"/>
          </a:xfrm>
        </p:grpSpPr>
        <p:sp>
          <p:nvSpPr>
            <p:cNvPr name="Freeform 6" id="6"/>
            <p:cNvSpPr/>
            <p:nvPr/>
          </p:nvSpPr>
          <p:spPr>
            <a:xfrm flipH="false" flipV="false" rot="0">
              <a:off x="0" y="0"/>
              <a:ext cx="12888214" cy="5964682"/>
            </a:xfrm>
            <a:custGeom>
              <a:avLst/>
              <a:gdLst/>
              <a:ahLst/>
              <a:cxnLst/>
              <a:rect r="r" b="b" t="t" l="l"/>
              <a:pathLst>
                <a:path h="5964682" w="12888214">
                  <a:moveTo>
                    <a:pt x="0" y="0"/>
                  </a:moveTo>
                  <a:lnTo>
                    <a:pt x="12888214" y="0"/>
                  </a:lnTo>
                  <a:lnTo>
                    <a:pt x="12888214" y="5964682"/>
                  </a:lnTo>
                  <a:lnTo>
                    <a:pt x="0" y="5964682"/>
                  </a:lnTo>
                  <a:lnTo>
                    <a:pt x="0" y="0"/>
                  </a:lnTo>
                  <a:close/>
                </a:path>
              </a:pathLst>
            </a:custGeom>
            <a:blipFill>
              <a:blip r:embed="rId8"/>
              <a:stretch>
                <a:fillRect l="0" t="-11469" r="0" b="-11469"/>
              </a:stretch>
            </a:blipFill>
          </p:spPr>
        </p:sp>
      </p:grpSp>
      <p:grpSp>
        <p:nvGrpSpPr>
          <p:cNvPr name="Group 7" id="7"/>
          <p:cNvGrpSpPr/>
          <p:nvPr/>
        </p:nvGrpSpPr>
        <p:grpSpPr>
          <a:xfrm rot="0">
            <a:off x="9755753" y="3560674"/>
            <a:ext cx="7693390" cy="5187867"/>
            <a:chOff x="0" y="0"/>
            <a:chExt cx="10257854" cy="6917157"/>
          </a:xfrm>
        </p:grpSpPr>
        <p:sp>
          <p:nvSpPr>
            <p:cNvPr name="Freeform 8" id="8"/>
            <p:cNvSpPr/>
            <p:nvPr/>
          </p:nvSpPr>
          <p:spPr>
            <a:xfrm flipH="false" flipV="false" rot="0">
              <a:off x="0" y="0"/>
              <a:ext cx="10257917" cy="6917182"/>
            </a:xfrm>
            <a:custGeom>
              <a:avLst/>
              <a:gdLst/>
              <a:ahLst/>
              <a:cxnLst/>
              <a:rect r="r" b="b" t="t" l="l"/>
              <a:pathLst>
                <a:path h="6917182" w="10257917">
                  <a:moveTo>
                    <a:pt x="0" y="0"/>
                  </a:moveTo>
                  <a:lnTo>
                    <a:pt x="10257917" y="0"/>
                  </a:lnTo>
                  <a:lnTo>
                    <a:pt x="10257917" y="6917182"/>
                  </a:lnTo>
                  <a:lnTo>
                    <a:pt x="0" y="6917182"/>
                  </a:lnTo>
                  <a:lnTo>
                    <a:pt x="0" y="0"/>
                  </a:lnTo>
                  <a:close/>
                </a:path>
              </a:pathLst>
            </a:custGeom>
            <a:blipFill>
              <a:blip r:embed="rId9"/>
              <a:stretch>
                <a:fillRect l="0" t="-7327" r="0" b="-7326"/>
              </a:stretch>
            </a:blipFill>
          </p:spPr>
        </p:sp>
      </p:grpSp>
      <p:grpSp>
        <p:nvGrpSpPr>
          <p:cNvPr name="Group 9" id="9"/>
          <p:cNvGrpSpPr/>
          <p:nvPr/>
        </p:nvGrpSpPr>
        <p:grpSpPr>
          <a:xfrm rot="0">
            <a:off x="-156334" y="1194645"/>
            <a:ext cx="9912077" cy="3948855"/>
            <a:chOff x="0" y="0"/>
            <a:chExt cx="13216103" cy="5265141"/>
          </a:xfrm>
        </p:grpSpPr>
        <p:sp>
          <p:nvSpPr>
            <p:cNvPr name="Freeform 10" id="10"/>
            <p:cNvSpPr/>
            <p:nvPr/>
          </p:nvSpPr>
          <p:spPr>
            <a:xfrm flipH="false" flipV="false" rot="0">
              <a:off x="0" y="0"/>
              <a:ext cx="13216128" cy="5265166"/>
            </a:xfrm>
            <a:custGeom>
              <a:avLst/>
              <a:gdLst/>
              <a:ahLst/>
              <a:cxnLst/>
              <a:rect r="r" b="b" t="t" l="l"/>
              <a:pathLst>
                <a:path h="5265166" w="13216128">
                  <a:moveTo>
                    <a:pt x="0" y="0"/>
                  </a:moveTo>
                  <a:lnTo>
                    <a:pt x="13216128" y="0"/>
                  </a:lnTo>
                  <a:lnTo>
                    <a:pt x="13216128" y="5265166"/>
                  </a:lnTo>
                  <a:lnTo>
                    <a:pt x="0" y="5265166"/>
                  </a:lnTo>
                  <a:lnTo>
                    <a:pt x="0" y="0"/>
                  </a:lnTo>
                  <a:close/>
                </a:path>
              </a:pathLst>
            </a:custGeom>
            <a:blipFill>
              <a:blip r:embed="rId10"/>
              <a:stretch>
                <a:fillRect l="0" t="-11843" r="0" b="-11842"/>
              </a:stretch>
            </a:blipFill>
          </p:spPr>
        </p:sp>
      </p:grpSp>
      <p:sp>
        <p:nvSpPr>
          <p:cNvPr name="TextBox 11" id="11"/>
          <p:cNvSpPr txBox="true"/>
          <p:nvPr/>
        </p:nvSpPr>
        <p:spPr>
          <a:xfrm rot="0">
            <a:off x="1307897" y="643766"/>
            <a:ext cx="3667211" cy="384934"/>
          </a:xfrm>
          <a:prstGeom prst="rect">
            <a:avLst/>
          </a:prstGeom>
        </p:spPr>
        <p:txBody>
          <a:bodyPr anchor="t" rtlCol="false" tIns="0" lIns="0" bIns="0" rIns="0">
            <a:spAutoFit/>
          </a:bodyPr>
          <a:lstStyle/>
          <a:p>
            <a:pPr algn="l">
              <a:lnSpc>
                <a:spcPts val="2956"/>
              </a:lnSpc>
            </a:pPr>
            <a:r>
              <a:rPr lang="en-US" sz="2346">
                <a:solidFill>
                  <a:srgbClr val="F5F7F7"/>
                </a:solidFill>
                <a:latin typeface="Ovo"/>
                <a:ea typeface="Ovo"/>
                <a:cs typeface="Ovo"/>
                <a:sym typeface="Ovo"/>
              </a:rPr>
              <a:t>5. Distribution Channels</a:t>
            </a:r>
          </a:p>
        </p:txBody>
      </p:sp>
      <p:sp>
        <p:nvSpPr>
          <p:cNvPr name="TextBox 12" id="12"/>
          <p:cNvSpPr txBox="true"/>
          <p:nvPr/>
        </p:nvSpPr>
        <p:spPr>
          <a:xfrm rot="0">
            <a:off x="10134076" y="2584237"/>
            <a:ext cx="4478322" cy="384934"/>
          </a:xfrm>
          <a:prstGeom prst="rect">
            <a:avLst/>
          </a:prstGeom>
        </p:spPr>
        <p:txBody>
          <a:bodyPr anchor="t" rtlCol="false" tIns="0" lIns="0" bIns="0" rIns="0">
            <a:spAutoFit/>
          </a:bodyPr>
          <a:lstStyle/>
          <a:p>
            <a:pPr algn="l">
              <a:lnSpc>
                <a:spcPts val="2956"/>
              </a:lnSpc>
            </a:pPr>
            <a:r>
              <a:rPr lang="en-US" sz="2346">
                <a:solidFill>
                  <a:srgbClr val="F5F7F7"/>
                </a:solidFill>
                <a:latin typeface="Ovo"/>
                <a:ea typeface="Ovo"/>
                <a:cs typeface="Ovo"/>
                <a:sym typeface="Ovo"/>
              </a:rPr>
              <a:t>6. Cost Structure</a:t>
            </a:r>
          </a:p>
        </p:txBody>
      </p:sp>
      <p:sp>
        <p:nvSpPr>
          <p:cNvPr name="TextBox 13" id="13"/>
          <p:cNvSpPr txBox="true"/>
          <p:nvPr/>
        </p:nvSpPr>
        <p:spPr>
          <a:xfrm rot="0">
            <a:off x="1307897" y="5267325"/>
            <a:ext cx="4478322" cy="384934"/>
          </a:xfrm>
          <a:prstGeom prst="rect">
            <a:avLst/>
          </a:prstGeom>
        </p:spPr>
        <p:txBody>
          <a:bodyPr anchor="t" rtlCol="false" tIns="0" lIns="0" bIns="0" rIns="0">
            <a:spAutoFit/>
          </a:bodyPr>
          <a:lstStyle/>
          <a:p>
            <a:pPr algn="l">
              <a:lnSpc>
                <a:spcPts val="2956"/>
              </a:lnSpc>
            </a:pPr>
            <a:r>
              <a:rPr lang="en-US" sz="2346">
                <a:solidFill>
                  <a:srgbClr val="F5F7F7"/>
                </a:solidFill>
                <a:latin typeface="Ovo"/>
                <a:ea typeface="Ovo"/>
                <a:cs typeface="Ovo"/>
                <a:sym typeface="Ovo"/>
              </a:rPr>
              <a:t>7. Financial Projection (Example)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E2024"/>
        </a:solidFill>
      </p:bgPr>
    </p:bg>
    <p:spTree>
      <p:nvGrpSpPr>
        <p:cNvPr id="1" name=""/>
        <p:cNvGrpSpPr/>
        <p:nvPr/>
      </p:nvGrpSpPr>
      <p:grpSpPr>
        <a:xfrm>
          <a:off x="0" y="0"/>
          <a:ext cx="0" cy="0"/>
          <a:chOff x="0" y="0"/>
          <a:chExt cx="0" cy="0"/>
        </a:xfrm>
      </p:grpSpPr>
      <p:sp>
        <p:nvSpPr>
          <p:cNvPr name="Freeform 2" id="2"/>
          <p:cNvSpPr/>
          <p:nvPr/>
        </p:nvSpPr>
        <p:spPr>
          <a:xfrm flipH="false" flipV="false" rot="0">
            <a:off x="17748796" y="1600078"/>
            <a:ext cx="1423034" cy="1423034"/>
          </a:xfrm>
          <a:custGeom>
            <a:avLst/>
            <a:gdLst/>
            <a:ahLst/>
            <a:cxnLst/>
            <a:rect r="r" b="b" t="t" l="l"/>
            <a:pathLst>
              <a:path h="1423034" w="1423034">
                <a:moveTo>
                  <a:pt x="0" y="0"/>
                </a:moveTo>
                <a:lnTo>
                  <a:pt x="1423035" y="0"/>
                </a:lnTo>
                <a:lnTo>
                  <a:pt x="1423035" y="1423035"/>
                </a:lnTo>
                <a:lnTo>
                  <a:pt x="0" y="14230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67848" y="5919405"/>
            <a:ext cx="1423034" cy="1423034"/>
          </a:xfrm>
          <a:custGeom>
            <a:avLst/>
            <a:gdLst/>
            <a:ahLst/>
            <a:cxnLst/>
            <a:rect r="r" b="b" t="t" l="l"/>
            <a:pathLst>
              <a:path h="1423034" w="1423034">
                <a:moveTo>
                  <a:pt x="0" y="0"/>
                </a:moveTo>
                <a:lnTo>
                  <a:pt x="1423035" y="0"/>
                </a:lnTo>
                <a:lnTo>
                  <a:pt x="1423035" y="1423035"/>
                </a:lnTo>
                <a:lnTo>
                  <a:pt x="0" y="14230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18836" y="9629424"/>
            <a:ext cx="1315151" cy="1315151"/>
          </a:xfrm>
          <a:custGeom>
            <a:avLst/>
            <a:gdLst/>
            <a:ahLst/>
            <a:cxnLst/>
            <a:rect r="r" b="b" t="t" l="l"/>
            <a:pathLst>
              <a:path h="1315151" w="1315151">
                <a:moveTo>
                  <a:pt x="0" y="0"/>
                </a:moveTo>
                <a:lnTo>
                  <a:pt x="1315151" y="0"/>
                </a:lnTo>
                <a:lnTo>
                  <a:pt x="1315151" y="1315151"/>
                </a:lnTo>
                <a:lnTo>
                  <a:pt x="0" y="13151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38060" y="8606426"/>
            <a:ext cx="1315151" cy="1315151"/>
          </a:xfrm>
          <a:custGeom>
            <a:avLst/>
            <a:gdLst/>
            <a:ahLst/>
            <a:cxnLst/>
            <a:rect r="r" b="b" t="t" l="l"/>
            <a:pathLst>
              <a:path h="1315151" w="1315151">
                <a:moveTo>
                  <a:pt x="0" y="0"/>
                </a:moveTo>
                <a:lnTo>
                  <a:pt x="1315151" y="0"/>
                </a:lnTo>
                <a:lnTo>
                  <a:pt x="1315151" y="1315151"/>
                </a:lnTo>
                <a:lnTo>
                  <a:pt x="0" y="13151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1476413" y="2207409"/>
            <a:ext cx="7125919" cy="6585071"/>
          </a:xfrm>
          <a:prstGeom prst="rect">
            <a:avLst/>
          </a:prstGeom>
        </p:spPr>
        <p:txBody>
          <a:bodyPr anchor="t" rtlCol="false" tIns="0" lIns="0" bIns="0" rIns="0">
            <a:spAutoFit/>
          </a:bodyPr>
          <a:lstStyle/>
          <a:p>
            <a:pPr algn="l">
              <a:lnSpc>
                <a:spcPts val="2956"/>
              </a:lnSpc>
            </a:pPr>
            <a:r>
              <a:rPr lang="en-US" sz="2346">
                <a:solidFill>
                  <a:srgbClr val="F5F7F7"/>
                </a:solidFill>
                <a:latin typeface="Ovo"/>
                <a:ea typeface="Ovo"/>
                <a:cs typeface="Ovo"/>
                <a:sym typeface="Ovo"/>
              </a:rPr>
              <a:t>The real-time object detection and speech feedback system presented in this document offers a promising solution to the challenges faced by visually impaired individuals in navigating their surroundings. By combining object detection, spatial awareness, and speech feedback, the system provides users with the information they need to navigate safely and independently. The cost-effectiveness and user-friendliness of the system make it a viable alternative to existing assistive technologies, potentially improving the lives of countless visually impaired individuals. Further research and development will focus on refining the object detection model, improving the accuracy of spatial awareness, and enhancing the user interface to create a truly seamless and effective assistive tool.</a:t>
            </a:r>
          </a:p>
          <a:p>
            <a:pPr algn="l">
              <a:lnSpc>
                <a:spcPts val="2956"/>
              </a:lnSpc>
            </a:pPr>
          </a:p>
          <a:p>
            <a:pPr algn="l">
              <a:lnSpc>
                <a:spcPts val="2956"/>
              </a:lnSpc>
            </a:pPr>
          </a:p>
        </p:txBody>
      </p:sp>
      <p:sp>
        <p:nvSpPr>
          <p:cNvPr name="TextBox 7" id="7"/>
          <p:cNvSpPr txBox="true"/>
          <p:nvPr/>
        </p:nvSpPr>
        <p:spPr>
          <a:xfrm rot="0">
            <a:off x="1476413" y="1084812"/>
            <a:ext cx="5986272" cy="569204"/>
          </a:xfrm>
          <a:prstGeom prst="rect">
            <a:avLst/>
          </a:prstGeom>
        </p:spPr>
        <p:txBody>
          <a:bodyPr anchor="t" rtlCol="false" tIns="0" lIns="0" bIns="0" rIns="0">
            <a:spAutoFit/>
          </a:bodyPr>
          <a:lstStyle/>
          <a:p>
            <a:pPr algn="l">
              <a:lnSpc>
                <a:spcPts val="5086"/>
              </a:lnSpc>
            </a:pPr>
            <a:r>
              <a:rPr lang="en-US" sz="5036" b="true">
                <a:solidFill>
                  <a:srgbClr val="F5F7F7"/>
                </a:solidFill>
                <a:latin typeface="Garet Bold"/>
                <a:ea typeface="Garet Bold"/>
                <a:cs typeface="Garet Bold"/>
                <a:sym typeface="Garet Bold"/>
              </a:rPr>
              <a:t>CONCLUSION</a:t>
            </a:r>
          </a:p>
        </p:txBody>
      </p:sp>
      <p:grpSp>
        <p:nvGrpSpPr>
          <p:cNvPr name="Group 8" id="8"/>
          <p:cNvGrpSpPr/>
          <p:nvPr/>
        </p:nvGrpSpPr>
        <p:grpSpPr>
          <a:xfrm rot="0">
            <a:off x="8576662" y="2311594"/>
            <a:ext cx="9226077" cy="4811820"/>
            <a:chOff x="0" y="0"/>
            <a:chExt cx="12301436" cy="6415761"/>
          </a:xfrm>
        </p:grpSpPr>
        <p:sp>
          <p:nvSpPr>
            <p:cNvPr name="Freeform 9" id="9"/>
            <p:cNvSpPr/>
            <p:nvPr/>
          </p:nvSpPr>
          <p:spPr>
            <a:xfrm flipH="false" flipV="false" rot="0">
              <a:off x="0" y="0"/>
              <a:ext cx="12301474" cy="6415786"/>
            </a:xfrm>
            <a:custGeom>
              <a:avLst/>
              <a:gdLst/>
              <a:ahLst/>
              <a:cxnLst/>
              <a:rect r="r" b="b" t="t" l="l"/>
              <a:pathLst>
                <a:path h="6415786" w="12301474">
                  <a:moveTo>
                    <a:pt x="0" y="0"/>
                  </a:moveTo>
                  <a:lnTo>
                    <a:pt x="12301474" y="0"/>
                  </a:lnTo>
                  <a:lnTo>
                    <a:pt x="12301474" y="6415786"/>
                  </a:lnTo>
                  <a:lnTo>
                    <a:pt x="0" y="6415786"/>
                  </a:lnTo>
                  <a:lnTo>
                    <a:pt x="0" y="0"/>
                  </a:lnTo>
                  <a:close/>
                </a:path>
              </a:pathLst>
            </a:custGeom>
            <a:blipFill>
              <a:blip r:embed="rId8"/>
              <a:stretch>
                <a:fillRect l="0" t="-15963" r="0" b="-15963"/>
              </a:stretch>
            </a:blipFill>
          </p:spPr>
        </p:sp>
      </p:grpSp>
    </p:spTree>
  </p:cSld>
  <p:clrMapOvr>
    <a:masterClrMapping/>
  </p:clrMapOvr>
</p:sld>
</file>

<file path=ppt/slides/slide14.xml><?xml version="1.0" encoding="utf-8"?>
<p:sld xmlns:p="http://schemas.openxmlformats.org/presentationml/2006/main" xmlns:a="http://schemas.openxmlformats.org/drawingml/2006/main">
  <p:cSld>
    <p:bg>
      <p:bgPr>
        <a:solidFill>
          <a:srgbClr val="1E2024"/>
        </a:solidFill>
      </p:bgPr>
    </p:bg>
    <p:spTree>
      <p:nvGrpSpPr>
        <p:cNvPr id="1" name=""/>
        <p:cNvGrpSpPr/>
        <p:nvPr/>
      </p:nvGrpSpPr>
      <p:grpSpPr>
        <a:xfrm>
          <a:off x="0" y="0"/>
          <a:ext cx="0" cy="0"/>
          <a:chOff x="0" y="0"/>
          <a:chExt cx="0" cy="0"/>
        </a:xfrm>
      </p:grpSpPr>
      <p:sp>
        <p:nvSpPr>
          <p:cNvPr name="TextBox 2" id="2"/>
          <p:cNvSpPr txBox="true"/>
          <p:nvPr/>
        </p:nvSpPr>
        <p:spPr>
          <a:xfrm rot="0">
            <a:off x="4527232" y="3634940"/>
            <a:ext cx="9233535" cy="2314575"/>
          </a:xfrm>
          <a:prstGeom prst="rect">
            <a:avLst/>
          </a:prstGeom>
        </p:spPr>
        <p:txBody>
          <a:bodyPr anchor="t" rtlCol="false" tIns="0" lIns="0" bIns="0" rIns="0">
            <a:spAutoFit/>
          </a:bodyPr>
          <a:lstStyle/>
          <a:p>
            <a:pPr algn="ctr">
              <a:lnSpc>
                <a:spcPts val="18237"/>
              </a:lnSpc>
            </a:pPr>
            <a:r>
              <a:rPr lang="en-US" sz="15197">
                <a:solidFill>
                  <a:srgbClr val="FFFFFF"/>
                </a:solidFill>
                <a:latin typeface="Bukhari Script"/>
                <a:ea typeface="Bukhari Script"/>
                <a:cs typeface="Bukhari Script"/>
                <a:sym typeface="Bukhari Scrip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DAG8_qwr6Uw</dc:identifier>
  <dcterms:modified xsi:type="dcterms:W3CDTF">2011-08-01T06:04:30Z</dcterms:modified>
  <cp:revision>1</cp:revision>
  <dc:title>Real-Time Object Detection and Speech Feedback System for Visually Impaired Individuals.pptx</dc:title>
</cp:coreProperties>
</file>