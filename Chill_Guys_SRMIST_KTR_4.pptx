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6858000" cy="9144000"/>
  <p:embeddedFontLst>
    <p:embeddedFont>
      <p:font typeface="Bukhari Script" panose="020B0604020202020204" charset="0"/>
      <p:regular r:id="rId15"/>
    </p:embeddedFont>
    <p:embeddedFont>
      <p:font typeface="Garet Bold" panose="020B0604020202020204" charset="0"/>
      <p:regular r:id="rId16"/>
    </p:embeddedFont>
    <p:embeddedFont>
      <p:font typeface="Ovo"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1" d="100"/>
          <a:sy n="51" d="100"/>
        </p:scale>
        <p:origin x="293"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3533CD">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rot="-10800000">
            <a:off x="6110463" y="-6551736"/>
            <a:ext cx="7698334" cy="7698303"/>
            <a:chOff x="0" y="0"/>
            <a:chExt cx="6350000" cy="6349975"/>
          </a:xfrm>
        </p:grpSpPr>
        <p:sp>
          <p:nvSpPr>
            <p:cNvPr id="3" name="Freeform 3"/>
            <p:cNvSpPr/>
            <p:nvPr/>
          </p:nvSpPr>
          <p:spPr>
            <a:xfrm>
              <a:off x="0" y="0"/>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gradFill rotWithShape="1">
              <a:gsLst>
                <a:gs pos="0">
                  <a:srgbClr val="5170FF">
                    <a:alpha val="100000"/>
                  </a:srgbClr>
                </a:gs>
                <a:gs pos="100000">
                  <a:srgbClr val="FF66C4">
                    <a:alpha val="100000"/>
                  </a:srgbClr>
                </a:gs>
              </a:gsLst>
              <a:lin ang="0"/>
            </a:gradFill>
            <a:ln w="12700">
              <a:solidFill>
                <a:srgbClr val="000000"/>
              </a:solidFill>
            </a:ln>
          </p:spPr>
        </p:sp>
      </p:grpSp>
      <p:grpSp>
        <p:nvGrpSpPr>
          <p:cNvPr id="4" name="Group 4"/>
          <p:cNvGrpSpPr/>
          <p:nvPr/>
        </p:nvGrpSpPr>
        <p:grpSpPr>
          <a:xfrm>
            <a:off x="9959630" y="21006"/>
            <a:ext cx="16444104" cy="14141563"/>
            <a:chOff x="0" y="0"/>
            <a:chExt cx="21925473" cy="18855417"/>
          </a:xfrm>
        </p:grpSpPr>
        <p:grpSp>
          <p:nvGrpSpPr>
            <p:cNvPr id="5" name="Group 5"/>
            <p:cNvGrpSpPr/>
            <p:nvPr/>
          </p:nvGrpSpPr>
          <p:grpSpPr>
            <a:xfrm rot="-8741809">
              <a:off x="3668768" y="4741836"/>
              <a:ext cx="16827794" cy="10264404"/>
              <a:chOff x="0" y="0"/>
              <a:chExt cx="1476351" cy="900526"/>
            </a:xfrm>
          </p:grpSpPr>
          <p:sp>
            <p:nvSpPr>
              <p:cNvPr id="6" name="Freeform 6"/>
              <p:cNvSpPr/>
              <p:nvPr/>
            </p:nvSpPr>
            <p:spPr>
              <a:xfrm>
                <a:off x="0" y="0"/>
                <a:ext cx="1476351" cy="900526"/>
              </a:xfrm>
              <a:custGeom>
                <a:avLst/>
                <a:gdLst/>
                <a:ahLst/>
                <a:cxnLst/>
                <a:rect l="l" t="t" r="r" b="b"/>
                <a:pathLst>
                  <a:path w="1476351" h="900526">
                    <a:moveTo>
                      <a:pt x="0" y="0"/>
                    </a:moveTo>
                    <a:lnTo>
                      <a:pt x="1476351" y="0"/>
                    </a:lnTo>
                    <a:lnTo>
                      <a:pt x="1476351" y="900526"/>
                    </a:lnTo>
                    <a:lnTo>
                      <a:pt x="0" y="900526"/>
                    </a:lnTo>
                    <a:close/>
                  </a:path>
                </a:pathLst>
              </a:custGeom>
              <a:gradFill rotWithShape="1">
                <a:gsLst>
                  <a:gs pos="0">
                    <a:srgbClr val="5170FF">
                      <a:alpha val="100000"/>
                    </a:srgbClr>
                  </a:gs>
                  <a:gs pos="100000">
                    <a:srgbClr val="FF66C4">
                      <a:alpha val="100000"/>
                    </a:srgbClr>
                  </a:gs>
                </a:gsLst>
                <a:lin ang="0"/>
              </a:gradFill>
              <a:ln cap="sq">
                <a:noFill/>
                <a:prstDash val="solid"/>
                <a:miter/>
              </a:ln>
            </p:spPr>
          </p:sp>
          <p:sp>
            <p:nvSpPr>
              <p:cNvPr id="7" name="TextBox 7"/>
              <p:cNvSpPr txBox="1"/>
              <p:nvPr/>
            </p:nvSpPr>
            <p:spPr>
              <a:xfrm>
                <a:off x="0" y="-152400"/>
                <a:ext cx="1476351" cy="1052926"/>
              </a:xfrm>
              <a:prstGeom prst="rect">
                <a:avLst/>
              </a:prstGeom>
            </p:spPr>
            <p:txBody>
              <a:bodyPr lIns="114376" tIns="114376" rIns="114376" bIns="114376" rtlCol="0" anchor="ctr"/>
              <a:lstStyle/>
              <a:p>
                <a:pPr marL="0" lvl="0" indent="0" algn="ctr">
                  <a:lnSpc>
                    <a:spcPts val="11208"/>
                  </a:lnSpc>
                  <a:spcBef>
                    <a:spcPct val="0"/>
                  </a:spcBef>
                </a:pPr>
                <a:endParaRPr/>
              </a:p>
            </p:txBody>
          </p:sp>
        </p:grpSp>
        <p:grpSp>
          <p:nvGrpSpPr>
            <p:cNvPr id="8" name="Group 8"/>
            <p:cNvGrpSpPr/>
            <p:nvPr/>
          </p:nvGrpSpPr>
          <p:grpSpPr>
            <a:xfrm rot="-10800000">
              <a:off x="0" y="0"/>
              <a:ext cx="10264445" cy="10264404"/>
              <a:chOff x="0" y="0"/>
              <a:chExt cx="6350000" cy="6349975"/>
            </a:xfrm>
          </p:grpSpPr>
          <p:sp>
            <p:nvSpPr>
              <p:cNvPr id="9" name="Freeform 9"/>
              <p:cNvSpPr/>
              <p:nvPr/>
            </p:nvSpPr>
            <p:spPr>
              <a:xfrm>
                <a:off x="0" y="0"/>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gradFill rotWithShape="1">
                <a:gsLst>
                  <a:gs pos="0">
                    <a:srgbClr val="8C52FF">
                      <a:alpha val="100000"/>
                    </a:srgbClr>
                  </a:gs>
                  <a:gs pos="100000">
                    <a:srgbClr val="FF914D">
                      <a:alpha val="100000"/>
                    </a:srgbClr>
                  </a:gs>
                </a:gsLst>
                <a:lin ang="0"/>
              </a:gradFill>
              <a:ln w="12700">
                <a:solidFill>
                  <a:srgbClr val="000000"/>
                </a:solidFill>
              </a:ln>
            </p:spPr>
          </p:sp>
        </p:grpSp>
      </p:grpSp>
      <p:grpSp>
        <p:nvGrpSpPr>
          <p:cNvPr id="10" name="Group 10"/>
          <p:cNvGrpSpPr/>
          <p:nvPr/>
        </p:nvGrpSpPr>
        <p:grpSpPr>
          <a:xfrm>
            <a:off x="10197649" y="317167"/>
            <a:ext cx="7222295" cy="7222295"/>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89860" r="-89860"/>
              </a:stretch>
            </a:blipFill>
          </p:spPr>
        </p:sp>
      </p:grpSp>
      <p:grpSp>
        <p:nvGrpSpPr>
          <p:cNvPr id="12" name="Group 12"/>
          <p:cNvGrpSpPr/>
          <p:nvPr/>
        </p:nvGrpSpPr>
        <p:grpSpPr>
          <a:xfrm>
            <a:off x="16601724" y="1493679"/>
            <a:ext cx="1315151" cy="1315151"/>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66675" cap="sq">
              <a:solidFill>
                <a:srgbClr val="FFE953"/>
              </a:solidFill>
              <a:prstDash val="solid"/>
              <a:miter/>
            </a:ln>
          </p:spPr>
        </p:sp>
        <p:sp>
          <p:nvSpPr>
            <p:cNvPr id="14" name="TextBox 14"/>
            <p:cNvSpPr txBox="1"/>
            <p:nvPr/>
          </p:nvSpPr>
          <p:spPr>
            <a:xfrm>
              <a:off x="76200" y="66675"/>
              <a:ext cx="660400" cy="669925"/>
            </a:xfrm>
            <a:prstGeom prst="rect">
              <a:avLst/>
            </a:prstGeom>
          </p:spPr>
          <p:txBody>
            <a:bodyPr lIns="50800" tIns="50800" rIns="50800" bIns="50800" rtlCol="0" anchor="ctr"/>
            <a:lstStyle/>
            <a:p>
              <a:pPr algn="ctr">
                <a:lnSpc>
                  <a:spcPts val="1919"/>
                </a:lnSpc>
              </a:pPr>
              <a:endParaRPr/>
            </a:p>
          </p:txBody>
        </p:sp>
      </p:grpSp>
      <p:grpSp>
        <p:nvGrpSpPr>
          <p:cNvPr id="15" name="Group 15"/>
          <p:cNvGrpSpPr/>
          <p:nvPr/>
        </p:nvGrpSpPr>
        <p:grpSpPr>
          <a:xfrm>
            <a:off x="16601724" y="-657576"/>
            <a:ext cx="1315151" cy="1315151"/>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EE9E9"/>
            </a:solidFill>
            <a:ln w="38100" cap="sq">
              <a:solidFill>
                <a:srgbClr val="FFE953"/>
              </a:solidFill>
              <a:prstDash val="solid"/>
              <a:miter/>
            </a:ln>
          </p:spPr>
        </p:sp>
        <p:sp>
          <p:nvSpPr>
            <p:cNvPr id="17" name="TextBox 17"/>
            <p:cNvSpPr txBox="1"/>
            <p:nvPr/>
          </p:nvSpPr>
          <p:spPr>
            <a:xfrm>
              <a:off x="76200" y="66675"/>
              <a:ext cx="660400" cy="669925"/>
            </a:xfrm>
            <a:prstGeom prst="rect">
              <a:avLst/>
            </a:prstGeom>
          </p:spPr>
          <p:txBody>
            <a:bodyPr lIns="50800" tIns="50800" rIns="50800" bIns="50800" rtlCol="0" anchor="ctr"/>
            <a:lstStyle/>
            <a:p>
              <a:pPr algn="ctr">
                <a:lnSpc>
                  <a:spcPts val="1919"/>
                </a:lnSpc>
              </a:pPr>
              <a:endParaRPr/>
            </a:p>
          </p:txBody>
        </p:sp>
      </p:grpSp>
      <p:grpSp>
        <p:nvGrpSpPr>
          <p:cNvPr id="18" name="Group 18"/>
          <p:cNvGrpSpPr/>
          <p:nvPr/>
        </p:nvGrpSpPr>
        <p:grpSpPr>
          <a:xfrm>
            <a:off x="-796894" y="9260786"/>
            <a:ext cx="1315151" cy="1315151"/>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66675" cap="sq">
              <a:solidFill>
                <a:srgbClr val="FFE953"/>
              </a:solidFill>
              <a:prstDash val="solid"/>
              <a:miter/>
            </a:ln>
          </p:spPr>
        </p:sp>
        <p:sp>
          <p:nvSpPr>
            <p:cNvPr id="20" name="TextBox 20"/>
            <p:cNvSpPr txBox="1"/>
            <p:nvPr/>
          </p:nvSpPr>
          <p:spPr>
            <a:xfrm>
              <a:off x="76200" y="66675"/>
              <a:ext cx="660400" cy="669925"/>
            </a:xfrm>
            <a:prstGeom prst="rect">
              <a:avLst/>
            </a:prstGeom>
          </p:spPr>
          <p:txBody>
            <a:bodyPr lIns="50800" tIns="50800" rIns="50800" bIns="50800" rtlCol="0" anchor="ctr"/>
            <a:lstStyle/>
            <a:p>
              <a:pPr algn="ctr">
                <a:lnSpc>
                  <a:spcPts val="1919"/>
                </a:lnSpc>
              </a:pPr>
              <a:endParaRPr/>
            </a:p>
          </p:txBody>
        </p:sp>
      </p:grpSp>
      <p:sp>
        <p:nvSpPr>
          <p:cNvPr id="21" name="Freeform 21"/>
          <p:cNvSpPr/>
          <p:nvPr/>
        </p:nvSpPr>
        <p:spPr>
          <a:xfrm>
            <a:off x="10902342" y="5645152"/>
            <a:ext cx="6356958" cy="6356958"/>
          </a:xfrm>
          <a:custGeom>
            <a:avLst/>
            <a:gdLst/>
            <a:ahLst/>
            <a:cxnLst/>
            <a:rect l="l" t="t" r="r" b="b"/>
            <a:pathLst>
              <a:path w="6356958" h="6356958">
                <a:moveTo>
                  <a:pt x="0" y="0"/>
                </a:moveTo>
                <a:lnTo>
                  <a:pt x="6356958" y="0"/>
                </a:lnTo>
                <a:lnTo>
                  <a:pt x="6356958" y="6356958"/>
                </a:lnTo>
                <a:lnTo>
                  <a:pt x="0" y="6356958"/>
                </a:lnTo>
                <a:lnTo>
                  <a:pt x="0" y="0"/>
                </a:lnTo>
                <a:close/>
              </a:path>
            </a:pathLst>
          </a:custGeom>
          <a:blipFill>
            <a:blip r:embed="rId3"/>
            <a:stretch>
              <a:fillRect/>
            </a:stretch>
          </a:blipFill>
        </p:spPr>
      </p:sp>
      <p:grpSp>
        <p:nvGrpSpPr>
          <p:cNvPr id="22" name="Group 22"/>
          <p:cNvGrpSpPr/>
          <p:nvPr/>
        </p:nvGrpSpPr>
        <p:grpSpPr>
          <a:xfrm>
            <a:off x="792101" y="2491825"/>
            <a:ext cx="8930930" cy="4223880"/>
            <a:chOff x="0" y="0"/>
            <a:chExt cx="11907906" cy="5631840"/>
          </a:xfrm>
        </p:grpSpPr>
        <p:sp>
          <p:nvSpPr>
            <p:cNvPr id="23" name="TextBox 23"/>
            <p:cNvSpPr txBox="1"/>
            <p:nvPr/>
          </p:nvSpPr>
          <p:spPr>
            <a:xfrm>
              <a:off x="0" y="152400"/>
              <a:ext cx="11907906" cy="3155745"/>
            </a:xfrm>
            <a:prstGeom prst="rect">
              <a:avLst/>
            </a:prstGeom>
          </p:spPr>
          <p:txBody>
            <a:bodyPr lIns="0" tIns="0" rIns="0" bIns="0" rtlCol="0" anchor="t">
              <a:spAutoFit/>
            </a:bodyPr>
            <a:lstStyle/>
            <a:p>
              <a:pPr marL="0" lvl="0" indent="0" algn="l">
                <a:lnSpc>
                  <a:spcPts val="8963"/>
                </a:lnSpc>
              </a:pPr>
              <a:r>
                <a:rPr lang="en-US" sz="8875" b="1">
                  <a:solidFill>
                    <a:srgbClr val="F5F7F7"/>
                  </a:solidFill>
                  <a:latin typeface="Garet Bold"/>
                  <a:ea typeface="Garet Bold"/>
                  <a:cs typeface="Garet Bold"/>
                  <a:sym typeface="Garet Bold"/>
                </a:rPr>
                <a:t>VISION BEYOND SIGHT</a:t>
              </a:r>
            </a:p>
          </p:txBody>
        </p:sp>
        <p:sp>
          <p:nvSpPr>
            <p:cNvPr id="24" name="TextBox 24"/>
            <p:cNvSpPr txBox="1"/>
            <p:nvPr/>
          </p:nvSpPr>
          <p:spPr>
            <a:xfrm>
              <a:off x="0" y="3701355"/>
              <a:ext cx="11907906" cy="1930485"/>
            </a:xfrm>
            <a:prstGeom prst="rect">
              <a:avLst/>
            </a:prstGeom>
          </p:spPr>
          <p:txBody>
            <a:bodyPr lIns="0" tIns="0" rIns="0" bIns="0" rtlCol="0" anchor="t">
              <a:spAutoFit/>
            </a:bodyPr>
            <a:lstStyle/>
            <a:p>
              <a:pPr algn="l">
                <a:lnSpc>
                  <a:spcPts val="3893"/>
                </a:lnSpc>
              </a:pPr>
              <a:r>
                <a:rPr lang="en-US" sz="2994">
                  <a:solidFill>
                    <a:srgbClr val="F5F7F7"/>
                  </a:solidFill>
                  <a:latin typeface="Ovo"/>
                  <a:ea typeface="Ovo"/>
                  <a:cs typeface="Ovo"/>
                  <a:sym typeface="Ovo"/>
                </a:rPr>
                <a:t>Real-Time Object Detection and Speech Feedback System for Visually Impaired Individuals</a:t>
              </a:r>
            </a:p>
            <a:p>
              <a:pPr marL="0" lvl="0" indent="0" algn="l">
                <a:lnSpc>
                  <a:spcPts val="3893"/>
                </a:lnSpc>
                <a:spcBef>
                  <a:spcPct val="0"/>
                </a:spcBef>
              </a:pPr>
              <a:endParaRPr lang="en-US" sz="2994">
                <a:solidFill>
                  <a:srgbClr val="F5F7F7"/>
                </a:solidFill>
                <a:latin typeface="Ovo"/>
                <a:ea typeface="Ovo"/>
                <a:cs typeface="Ovo"/>
                <a:sym typeface="Ovo"/>
              </a:endParaRPr>
            </a:p>
          </p:txBody>
        </p:sp>
      </p:grpSp>
      <p:sp>
        <p:nvSpPr>
          <p:cNvPr id="25" name="TextBox 25"/>
          <p:cNvSpPr txBox="1"/>
          <p:nvPr/>
        </p:nvSpPr>
        <p:spPr>
          <a:xfrm>
            <a:off x="792101" y="1127517"/>
            <a:ext cx="7618801" cy="254665"/>
          </a:xfrm>
          <a:prstGeom prst="rect">
            <a:avLst/>
          </a:prstGeom>
        </p:spPr>
        <p:txBody>
          <a:bodyPr lIns="0" tIns="0" rIns="0" bIns="0" rtlCol="0" anchor="t">
            <a:spAutoFit/>
          </a:bodyPr>
          <a:lstStyle/>
          <a:p>
            <a:pPr marL="0" lvl="0" indent="0" algn="l">
              <a:lnSpc>
                <a:spcPts val="2238"/>
              </a:lnSpc>
              <a:spcBef>
                <a:spcPct val="0"/>
              </a:spcBef>
            </a:pPr>
            <a:r>
              <a:rPr lang="en-US" sz="1598" b="1" u="none" spc="159">
                <a:solidFill>
                  <a:srgbClr val="F5F7F7"/>
                </a:solidFill>
                <a:latin typeface="Garet Bold"/>
                <a:ea typeface="Garet Bold"/>
                <a:cs typeface="Garet Bold"/>
                <a:sym typeface="Garet Bold"/>
              </a:rPr>
              <a:t>ENHANCING LIVES THROUGH INNOVATIVE TECHNOLOGY</a:t>
            </a:r>
          </a:p>
        </p:txBody>
      </p:sp>
      <p:sp>
        <p:nvSpPr>
          <p:cNvPr id="26" name="TextBox 26"/>
          <p:cNvSpPr txBox="1"/>
          <p:nvPr/>
        </p:nvSpPr>
        <p:spPr>
          <a:xfrm>
            <a:off x="304800" y="7031223"/>
            <a:ext cx="4008499" cy="453201"/>
          </a:xfrm>
          <a:prstGeom prst="rect">
            <a:avLst/>
          </a:prstGeom>
        </p:spPr>
        <p:txBody>
          <a:bodyPr wrap="square" lIns="0" tIns="0" rIns="0" bIns="0" rtlCol="0" anchor="t">
            <a:spAutoFit/>
          </a:bodyPr>
          <a:lstStyle/>
          <a:p>
            <a:pPr algn="ctr">
              <a:lnSpc>
                <a:spcPts val="3599"/>
              </a:lnSpc>
              <a:spcBef>
                <a:spcPct val="0"/>
              </a:spcBef>
            </a:pPr>
            <a:r>
              <a:rPr lang="en-US" sz="2999" u="sng" dirty="0">
                <a:solidFill>
                  <a:srgbClr val="F5F7F7"/>
                </a:solidFill>
                <a:latin typeface="Ovo"/>
                <a:ea typeface="Ovo"/>
                <a:cs typeface="Ovo"/>
                <a:sym typeface="Ovo"/>
              </a:rPr>
              <a:t>TEAM MEMBERS</a:t>
            </a:r>
          </a:p>
        </p:txBody>
      </p:sp>
      <p:sp>
        <p:nvSpPr>
          <p:cNvPr id="27" name="TextBox 27"/>
          <p:cNvSpPr txBox="1"/>
          <p:nvPr/>
        </p:nvSpPr>
        <p:spPr>
          <a:xfrm>
            <a:off x="792101" y="7661331"/>
            <a:ext cx="4853345" cy="1009650"/>
          </a:xfrm>
          <a:prstGeom prst="rect">
            <a:avLst/>
          </a:prstGeom>
        </p:spPr>
        <p:txBody>
          <a:bodyPr lIns="0" tIns="0" rIns="0" bIns="0" rtlCol="0" anchor="t">
            <a:spAutoFit/>
          </a:bodyPr>
          <a:lstStyle/>
          <a:p>
            <a:pPr algn="l">
              <a:lnSpc>
                <a:spcPts val="2639"/>
              </a:lnSpc>
            </a:pPr>
            <a:r>
              <a:rPr lang="en-US" sz="2199">
                <a:solidFill>
                  <a:srgbClr val="F5F7F7"/>
                </a:solidFill>
                <a:latin typeface="Ovo"/>
                <a:ea typeface="Ovo"/>
                <a:cs typeface="Ovo"/>
                <a:sym typeface="Ovo"/>
              </a:rPr>
              <a:t>Tufan Layek (RA2411004010209)</a:t>
            </a:r>
          </a:p>
          <a:p>
            <a:pPr algn="l">
              <a:lnSpc>
                <a:spcPts val="2639"/>
              </a:lnSpc>
              <a:spcBef>
                <a:spcPct val="0"/>
              </a:spcBef>
            </a:pPr>
            <a:r>
              <a:rPr lang="en-US" sz="2199">
                <a:solidFill>
                  <a:srgbClr val="F5F7F7"/>
                </a:solidFill>
                <a:latin typeface="Ovo"/>
                <a:ea typeface="Ovo"/>
                <a:cs typeface="Ovo"/>
                <a:sym typeface="Ovo"/>
              </a:rPr>
              <a:t>Protyay Saha (RA2411004010196)</a:t>
            </a:r>
          </a:p>
          <a:p>
            <a:pPr algn="l">
              <a:lnSpc>
                <a:spcPts val="2639"/>
              </a:lnSpc>
              <a:spcBef>
                <a:spcPct val="0"/>
              </a:spcBef>
            </a:pPr>
            <a:r>
              <a:rPr lang="en-US" sz="2199">
                <a:solidFill>
                  <a:srgbClr val="F5F7F7"/>
                </a:solidFill>
                <a:latin typeface="Ovo"/>
                <a:ea typeface="Ovo"/>
                <a:cs typeface="Ovo"/>
                <a:sym typeface="Ovo"/>
              </a:rPr>
              <a:t>Adamya Srivastava (RA2411004010190)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10000"/>
        </a:solidFill>
        <a:effectLst/>
      </p:bgPr>
    </p:bg>
    <p:spTree>
      <p:nvGrpSpPr>
        <p:cNvPr id="1" name=""/>
        <p:cNvGrpSpPr/>
        <p:nvPr/>
      </p:nvGrpSpPr>
      <p:grpSpPr>
        <a:xfrm>
          <a:off x="0" y="0"/>
          <a:ext cx="0" cy="0"/>
          <a:chOff x="0" y="0"/>
          <a:chExt cx="0" cy="0"/>
        </a:xfrm>
      </p:grpSpPr>
      <p:grpSp>
        <p:nvGrpSpPr>
          <p:cNvPr id="2" name="Group 2"/>
          <p:cNvGrpSpPr/>
          <p:nvPr/>
        </p:nvGrpSpPr>
        <p:grpSpPr>
          <a:xfrm>
            <a:off x="9458412" y="-10043635"/>
            <a:ext cx="17037410" cy="15187135"/>
            <a:chOff x="0" y="0"/>
            <a:chExt cx="7123603" cy="6349975"/>
          </a:xfrm>
        </p:grpSpPr>
        <p:sp>
          <p:nvSpPr>
            <p:cNvPr id="3" name="Freeform 3"/>
            <p:cNvSpPr/>
            <p:nvPr/>
          </p:nvSpPr>
          <p:spPr>
            <a:xfrm>
              <a:off x="0" y="0"/>
              <a:ext cx="7123603" cy="6349975"/>
            </a:xfrm>
            <a:custGeom>
              <a:avLst/>
              <a:gdLst/>
              <a:ahLst/>
              <a:cxnLst/>
              <a:rect l="l" t="t" r="r" b="b"/>
              <a:pathLst>
                <a:path w="7123603" h="6349975">
                  <a:moveTo>
                    <a:pt x="7123603" y="3175025"/>
                  </a:moveTo>
                  <a:cubicBezTo>
                    <a:pt x="7123603" y="4928451"/>
                    <a:pt x="5528899" y="6349975"/>
                    <a:pt x="3561802" y="6349975"/>
                  </a:cubicBezTo>
                  <a:cubicBezTo>
                    <a:pt x="1594676" y="6349975"/>
                    <a:pt x="0" y="4928451"/>
                    <a:pt x="0" y="3175025"/>
                  </a:cubicBezTo>
                  <a:cubicBezTo>
                    <a:pt x="0" y="1421511"/>
                    <a:pt x="1594676" y="0"/>
                    <a:pt x="3561802" y="0"/>
                  </a:cubicBezTo>
                  <a:cubicBezTo>
                    <a:pt x="5528928" y="0"/>
                    <a:pt x="7123603" y="1421511"/>
                    <a:pt x="7123603" y="3175025"/>
                  </a:cubicBezTo>
                  <a:close/>
                </a:path>
              </a:pathLst>
            </a:custGeom>
            <a:gradFill rotWithShape="1">
              <a:gsLst>
                <a:gs pos="0">
                  <a:srgbClr val="000000">
                    <a:alpha val="100000"/>
                  </a:srgbClr>
                </a:gs>
                <a:gs pos="100000">
                  <a:srgbClr val="3533CD">
                    <a:alpha val="100000"/>
                  </a:srgbClr>
                </a:gs>
              </a:gsLst>
              <a:lin ang="0"/>
            </a:gradFill>
            <a:ln w="12700">
              <a:solidFill>
                <a:srgbClr val="000000"/>
              </a:solidFill>
            </a:ln>
          </p:spPr>
        </p:sp>
      </p:grpSp>
      <p:grpSp>
        <p:nvGrpSpPr>
          <p:cNvPr id="4" name="Group 4"/>
          <p:cNvGrpSpPr/>
          <p:nvPr/>
        </p:nvGrpSpPr>
        <p:grpSpPr>
          <a:xfrm>
            <a:off x="1972727" y="637573"/>
            <a:ext cx="14971371" cy="5983965"/>
            <a:chOff x="0" y="0"/>
            <a:chExt cx="19961827" cy="7978621"/>
          </a:xfrm>
        </p:grpSpPr>
        <p:sp>
          <p:nvSpPr>
            <p:cNvPr id="5" name="TextBox 5"/>
            <p:cNvSpPr txBox="1"/>
            <p:nvPr/>
          </p:nvSpPr>
          <p:spPr>
            <a:xfrm>
              <a:off x="0" y="1698047"/>
              <a:ext cx="19961827" cy="6280573"/>
            </a:xfrm>
            <a:prstGeom prst="rect">
              <a:avLst/>
            </a:prstGeom>
          </p:spPr>
          <p:txBody>
            <a:bodyPr lIns="0" tIns="0" rIns="0" bIns="0" rtlCol="0" anchor="t">
              <a:spAutoFit/>
            </a:bodyPr>
            <a:lstStyle/>
            <a:p>
              <a:pPr algn="l">
                <a:lnSpc>
                  <a:spcPts val="3379"/>
                </a:lnSpc>
              </a:pPr>
              <a:r>
                <a:rPr lang="en-US" sz="2599">
                  <a:solidFill>
                    <a:srgbClr val="F5F7F7"/>
                  </a:solidFill>
                  <a:latin typeface="Ovo"/>
                  <a:ea typeface="Ovo"/>
                  <a:cs typeface="Ovo"/>
                  <a:sym typeface="Ovo"/>
                </a:rPr>
                <a:t>Visually impaired individuals encounter significant obstacles in their daily lives, particularly when navigating unfamiliar environments. While traditional assistive technologies like white canes have been helpful, they offer limited information about the surroundings. Smart glasses, although more advanced, are often prohibitively expensive. Furthermore, many existing systems focus primarily on text recognition, neglecting the crucial aspect of real-time obstacle detection and spatial awareness.</a:t>
              </a:r>
            </a:p>
            <a:p>
              <a:pPr algn="l">
                <a:lnSpc>
                  <a:spcPts val="3379"/>
                </a:lnSpc>
              </a:pPr>
              <a:endParaRPr lang="en-US" sz="2599">
                <a:solidFill>
                  <a:srgbClr val="F5F7F7"/>
                </a:solidFill>
                <a:latin typeface="Ovo"/>
                <a:ea typeface="Ovo"/>
                <a:cs typeface="Ovo"/>
                <a:sym typeface="Ovo"/>
              </a:endParaRPr>
            </a:p>
            <a:p>
              <a:pPr algn="l">
                <a:lnSpc>
                  <a:spcPts val="3379"/>
                </a:lnSpc>
              </a:pPr>
              <a:r>
                <a:rPr lang="en-US" sz="2599">
                  <a:solidFill>
                    <a:srgbClr val="F5F7F7"/>
                  </a:solidFill>
                  <a:latin typeface="Ovo"/>
                  <a:ea typeface="Ovo"/>
                  <a:cs typeface="Ovo"/>
                  <a:sym typeface="Ovo"/>
                </a:rPr>
                <a:t>Our proposed solution addresses these shortcomings by integrating object detection and spatial awareness into a text-to-speech system. This enhanced system provides real-time auditory feedback about nearby objects and their positions, enabling visually impaired users to navigate more safely and independently.</a:t>
              </a:r>
            </a:p>
            <a:p>
              <a:pPr marL="0" lvl="0" indent="0" algn="l">
                <a:lnSpc>
                  <a:spcPts val="3379"/>
                </a:lnSpc>
              </a:pPr>
              <a:endParaRPr lang="en-US" sz="2599">
                <a:solidFill>
                  <a:srgbClr val="F5F7F7"/>
                </a:solidFill>
                <a:latin typeface="Ovo"/>
                <a:ea typeface="Ovo"/>
                <a:cs typeface="Ovo"/>
                <a:sym typeface="Ovo"/>
              </a:endParaRPr>
            </a:p>
          </p:txBody>
        </p:sp>
        <p:sp>
          <p:nvSpPr>
            <p:cNvPr id="6" name="TextBox 6"/>
            <p:cNvSpPr txBox="1"/>
            <p:nvPr/>
          </p:nvSpPr>
          <p:spPr>
            <a:xfrm>
              <a:off x="0" y="95250"/>
              <a:ext cx="19961827" cy="1007999"/>
            </a:xfrm>
            <a:prstGeom prst="rect">
              <a:avLst/>
            </a:prstGeom>
          </p:spPr>
          <p:txBody>
            <a:bodyPr lIns="0" tIns="0" rIns="0" bIns="0" rtlCol="0" anchor="t">
              <a:spAutoFit/>
            </a:bodyPr>
            <a:lstStyle/>
            <a:p>
              <a:pPr marL="0" lvl="0" indent="0" algn="ctr">
                <a:lnSpc>
                  <a:spcPts val="5529"/>
                </a:lnSpc>
                <a:spcBef>
                  <a:spcPct val="0"/>
                </a:spcBef>
              </a:pPr>
              <a:r>
                <a:rPr lang="en-US" sz="5475" b="1">
                  <a:solidFill>
                    <a:srgbClr val="F5F7F7"/>
                  </a:solidFill>
                  <a:latin typeface="Garet Bold"/>
                  <a:ea typeface="Garet Bold"/>
                  <a:cs typeface="Garet Bold"/>
                  <a:sym typeface="Garet Bold"/>
                </a:rPr>
                <a:t>INTRODUCTION</a:t>
              </a:r>
            </a:p>
          </p:txBody>
        </p:sp>
      </p:grpSp>
      <p:grpSp>
        <p:nvGrpSpPr>
          <p:cNvPr id="7" name="Group 7"/>
          <p:cNvGrpSpPr/>
          <p:nvPr/>
        </p:nvGrpSpPr>
        <p:grpSpPr>
          <a:xfrm>
            <a:off x="-657576" y="7300627"/>
            <a:ext cx="1315151" cy="1315151"/>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EE9E9"/>
            </a:solidFill>
          </p:spPr>
        </p:sp>
        <p:sp>
          <p:nvSpPr>
            <p:cNvPr id="9" name="TextBox 9"/>
            <p:cNvSpPr txBox="1"/>
            <p:nvPr/>
          </p:nvSpPr>
          <p:spPr>
            <a:xfrm>
              <a:off x="76200" y="66675"/>
              <a:ext cx="660400" cy="669925"/>
            </a:xfrm>
            <a:prstGeom prst="rect">
              <a:avLst/>
            </a:prstGeom>
          </p:spPr>
          <p:txBody>
            <a:bodyPr lIns="50800" tIns="50800" rIns="50800" bIns="50800" rtlCol="0" anchor="ctr"/>
            <a:lstStyle/>
            <a:p>
              <a:pPr algn="ctr">
                <a:lnSpc>
                  <a:spcPts val="1919"/>
                </a:lnSpc>
              </a:pPr>
              <a:endParaRPr/>
            </a:p>
          </p:txBody>
        </p:sp>
      </p:grpSp>
      <p:grpSp>
        <p:nvGrpSpPr>
          <p:cNvPr id="10" name="Group 10"/>
          <p:cNvGrpSpPr/>
          <p:nvPr/>
        </p:nvGrpSpPr>
        <p:grpSpPr>
          <a:xfrm>
            <a:off x="657576" y="-424799"/>
            <a:ext cx="1315151" cy="1315151"/>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EE9E9"/>
            </a:solidFill>
          </p:spPr>
        </p:sp>
        <p:sp>
          <p:nvSpPr>
            <p:cNvPr id="12" name="TextBox 12"/>
            <p:cNvSpPr txBox="1"/>
            <p:nvPr/>
          </p:nvSpPr>
          <p:spPr>
            <a:xfrm>
              <a:off x="76200" y="66675"/>
              <a:ext cx="660400" cy="669925"/>
            </a:xfrm>
            <a:prstGeom prst="rect">
              <a:avLst/>
            </a:prstGeom>
          </p:spPr>
          <p:txBody>
            <a:bodyPr lIns="50800" tIns="50800" rIns="50800" bIns="50800" rtlCol="0" anchor="ctr"/>
            <a:lstStyle/>
            <a:p>
              <a:pPr algn="ctr">
                <a:lnSpc>
                  <a:spcPts val="1919"/>
                </a:lnSpc>
              </a:pPr>
              <a:endParaRPr/>
            </a:p>
          </p:txBody>
        </p:sp>
      </p:grpSp>
      <p:grpSp>
        <p:nvGrpSpPr>
          <p:cNvPr id="13" name="Group 13"/>
          <p:cNvGrpSpPr/>
          <p:nvPr/>
        </p:nvGrpSpPr>
        <p:grpSpPr>
          <a:xfrm>
            <a:off x="161296" y="9629424"/>
            <a:ext cx="1315151" cy="1315151"/>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66675" cap="sq">
              <a:solidFill>
                <a:srgbClr val="FFE953"/>
              </a:solidFill>
              <a:prstDash val="solid"/>
              <a:miter/>
            </a:ln>
          </p:spPr>
        </p:sp>
        <p:sp>
          <p:nvSpPr>
            <p:cNvPr id="15" name="TextBox 15"/>
            <p:cNvSpPr txBox="1"/>
            <p:nvPr/>
          </p:nvSpPr>
          <p:spPr>
            <a:xfrm>
              <a:off x="76200" y="66675"/>
              <a:ext cx="660400" cy="669925"/>
            </a:xfrm>
            <a:prstGeom prst="rect">
              <a:avLst/>
            </a:prstGeom>
          </p:spPr>
          <p:txBody>
            <a:bodyPr lIns="50800" tIns="50800" rIns="50800" bIns="50800" rtlCol="0" anchor="ctr"/>
            <a:lstStyle/>
            <a:p>
              <a:pPr marL="0" lvl="0" indent="0" algn="ctr">
                <a:lnSpc>
                  <a:spcPts val="1919"/>
                </a:lnSpc>
                <a:spcBef>
                  <a:spcPct val="0"/>
                </a:spcBef>
              </a:pPr>
              <a:endParaRPr/>
            </a:p>
          </p:txBody>
        </p:sp>
      </p:grpSp>
      <p:sp>
        <p:nvSpPr>
          <p:cNvPr id="16" name="Freeform 16"/>
          <p:cNvSpPr/>
          <p:nvPr/>
        </p:nvSpPr>
        <p:spPr>
          <a:xfrm>
            <a:off x="1972727" y="6320551"/>
            <a:ext cx="14568403" cy="3613415"/>
          </a:xfrm>
          <a:custGeom>
            <a:avLst/>
            <a:gdLst/>
            <a:ahLst/>
            <a:cxnLst/>
            <a:rect l="l" t="t" r="r" b="b"/>
            <a:pathLst>
              <a:path w="14568403" h="3613415">
                <a:moveTo>
                  <a:pt x="0" y="0"/>
                </a:moveTo>
                <a:lnTo>
                  <a:pt x="14568403" y="0"/>
                </a:lnTo>
                <a:lnTo>
                  <a:pt x="14568403" y="3613415"/>
                </a:lnTo>
                <a:lnTo>
                  <a:pt x="0" y="3613415"/>
                </a:lnTo>
                <a:lnTo>
                  <a:pt x="0" y="0"/>
                </a:lnTo>
                <a:close/>
              </a:path>
            </a:pathLst>
          </a:custGeom>
          <a:blipFill>
            <a:blip r:embed="rId2"/>
            <a:stretch>
              <a:fillRect t="-648" b="-648"/>
            </a:stretch>
          </a:blipFill>
        </p:spPr>
      </p:sp>
      <p:grpSp>
        <p:nvGrpSpPr>
          <p:cNvPr id="17" name="Group 17"/>
          <p:cNvGrpSpPr/>
          <p:nvPr/>
        </p:nvGrpSpPr>
        <p:grpSpPr>
          <a:xfrm>
            <a:off x="16541130" y="9423845"/>
            <a:ext cx="1315151" cy="1315151"/>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EE9E9"/>
            </a:solidFill>
          </p:spPr>
        </p:sp>
        <p:sp>
          <p:nvSpPr>
            <p:cNvPr id="19" name="TextBox 19"/>
            <p:cNvSpPr txBox="1"/>
            <p:nvPr/>
          </p:nvSpPr>
          <p:spPr>
            <a:xfrm>
              <a:off x="76200" y="66675"/>
              <a:ext cx="660400" cy="669925"/>
            </a:xfrm>
            <a:prstGeom prst="rect">
              <a:avLst/>
            </a:prstGeom>
          </p:spPr>
          <p:txBody>
            <a:bodyPr lIns="50800" tIns="50800" rIns="50800" bIns="50800" rtlCol="0" anchor="ctr"/>
            <a:lstStyle/>
            <a:p>
              <a:pPr algn="ctr">
                <a:lnSpc>
                  <a:spcPts val="1919"/>
                </a:lnSpc>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E2024"/>
        </a:solidFill>
        <a:effectLst/>
      </p:bgPr>
    </p:bg>
    <p:spTree>
      <p:nvGrpSpPr>
        <p:cNvPr id="1" name=""/>
        <p:cNvGrpSpPr/>
        <p:nvPr/>
      </p:nvGrpSpPr>
      <p:grpSpPr>
        <a:xfrm>
          <a:off x="0" y="0"/>
          <a:ext cx="0" cy="0"/>
          <a:chOff x="0" y="0"/>
          <a:chExt cx="0" cy="0"/>
        </a:xfrm>
      </p:grpSpPr>
      <p:grpSp>
        <p:nvGrpSpPr>
          <p:cNvPr id="2" name="Group 2"/>
          <p:cNvGrpSpPr/>
          <p:nvPr/>
        </p:nvGrpSpPr>
        <p:grpSpPr>
          <a:xfrm>
            <a:off x="17802738" y="1654020"/>
            <a:ext cx="1315151" cy="131515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66675" cap="sq">
              <a:solidFill>
                <a:srgbClr val="FFE953"/>
              </a:solidFill>
              <a:prstDash val="solid"/>
              <a:miter/>
            </a:ln>
          </p:spPr>
        </p:sp>
        <p:sp>
          <p:nvSpPr>
            <p:cNvPr id="4" name="TextBox 4"/>
            <p:cNvSpPr txBox="1"/>
            <p:nvPr/>
          </p:nvSpPr>
          <p:spPr>
            <a:xfrm>
              <a:off x="76200" y="66675"/>
              <a:ext cx="660400" cy="669925"/>
            </a:xfrm>
            <a:prstGeom prst="rect">
              <a:avLst/>
            </a:prstGeom>
          </p:spPr>
          <p:txBody>
            <a:bodyPr lIns="50800" tIns="50800" rIns="50800" bIns="50800" rtlCol="0" anchor="ctr"/>
            <a:lstStyle/>
            <a:p>
              <a:pPr marL="0" lvl="0" indent="0" algn="ctr">
                <a:lnSpc>
                  <a:spcPts val="1919"/>
                </a:lnSpc>
                <a:spcBef>
                  <a:spcPct val="0"/>
                </a:spcBef>
              </a:pPr>
              <a:endParaRPr/>
            </a:p>
          </p:txBody>
        </p:sp>
      </p:grpSp>
      <p:grpSp>
        <p:nvGrpSpPr>
          <p:cNvPr id="5" name="Group 5"/>
          <p:cNvGrpSpPr/>
          <p:nvPr/>
        </p:nvGrpSpPr>
        <p:grpSpPr>
          <a:xfrm>
            <a:off x="-813906" y="5973347"/>
            <a:ext cx="1315151" cy="131515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66675" cap="sq">
              <a:solidFill>
                <a:srgbClr val="FFE953"/>
              </a:solidFill>
              <a:prstDash val="solid"/>
              <a:miter/>
            </a:ln>
          </p:spPr>
        </p:sp>
        <p:sp>
          <p:nvSpPr>
            <p:cNvPr id="7" name="TextBox 7"/>
            <p:cNvSpPr txBox="1"/>
            <p:nvPr/>
          </p:nvSpPr>
          <p:spPr>
            <a:xfrm>
              <a:off x="76200" y="66675"/>
              <a:ext cx="660400" cy="669925"/>
            </a:xfrm>
            <a:prstGeom prst="rect">
              <a:avLst/>
            </a:prstGeom>
          </p:spPr>
          <p:txBody>
            <a:bodyPr lIns="50800" tIns="50800" rIns="50800" bIns="50800" rtlCol="0" anchor="ctr"/>
            <a:lstStyle/>
            <a:p>
              <a:pPr marL="0" lvl="0" indent="0" algn="ctr">
                <a:lnSpc>
                  <a:spcPts val="1919"/>
                </a:lnSpc>
                <a:spcBef>
                  <a:spcPct val="0"/>
                </a:spcBef>
              </a:pPr>
              <a:endParaRPr/>
            </a:p>
          </p:txBody>
        </p:sp>
      </p:grpSp>
      <p:grpSp>
        <p:nvGrpSpPr>
          <p:cNvPr id="8" name="Group 8"/>
          <p:cNvGrpSpPr/>
          <p:nvPr/>
        </p:nvGrpSpPr>
        <p:grpSpPr>
          <a:xfrm>
            <a:off x="818836" y="9629424"/>
            <a:ext cx="1315151" cy="1315151"/>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EE9E9"/>
            </a:solidFill>
          </p:spPr>
        </p:sp>
        <p:sp>
          <p:nvSpPr>
            <p:cNvPr id="10" name="TextBox 10"/>
            <p:cNvSpPr txBox="1"/>
            <p:nvPr/>
          </p:nvSpPr>
          <p:spPr>
            <a:xfrm>
              <a:off x="76200" y="66675"/>
              <a:ext cx="660400" cy="669925"/>
            </a:xfrm>
            <a:prstGeom prst="rect">
              <a:avLst/>
            </a:prstGeom>
          </p:spPr>
          <p:txBody>
            <a:bodyPr lIns="50800" tIns="50800" rIns="50800" bIns="50800" rtlCol="0" anchor="ctr"/>
            <a:lstStyle/>
            <a:p>
              <a:pPr algn="ctr">
                <a:lnSpc>
                  <a:spcPts val="1919"/>
                </a:lnSpc>
              </a:pPr>
              <a:endParaRPr/>
            </a:p>
          </p:txBody>
        </p:sp>
      </p:grpSp>
      <p:grpSp>
        <p:nvGrpSpPr>
          <p:cNvPr id="11" name="Group 11"/>
          <p:cNvGrpSpPr/>
          <p:nvPr/>
        </p:nvGrpSpPr>
        <p:grpSpPr>
          <a:xfrm>
            <a:off x="1638060" y="8606426"/>
            <a:ext cx="1315151" cy="1315151"/>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EE9E9"/>
            </a:solidFill>
          </p:spPr>
        </p:sp>
        <p:sp>
          <p:nvSpPr>
            <p:cNvPr id="13" name="TextBox 13"/>
            <p:cNvSpPr txBox="1"/>
            <p:nvPr/>
          </p:nvSpPr>
          <p:spPr>
            <a:xfrm>
              <a:off x="76200" y="66675"/>
              <a:ext cx="660400" cy="669925"/>
            </a:xfrm>
            <a:prstGeom prst="rect">
              <a:avLst/>
            </a:prstGeom>
          </p:spPr>
          <p:txBody>
            <a:bodyPr lIns="50800" tIns="50800" rIns="50800" bIns="50800" rtlCol="0" anchor="ctr"/>
            <a:lstStyle/>
            <a:p>
              <a:pPr algn="ctr">
                <a:lnSpc>
                  <a:spcPts val="1919"/>
                </a:lnSpc>
              </a:pPr>
              <a:endParaRPr/>
            </a:p>
          </p:txBody>
        </p:sp>
      </p:grpSp>
      <p:sp>
        <p:nvSpPr>
          <p:cNvPr id="14" name="Freeform 14"/>
          <p:cNvSpPr/>
          <p:nvPr/>
        </p:nvSpPr>
        <p:spPr>
          <a:xfrm>
            <a:off x="5573295" y="1933739"/>
            <a:ext cx="11686005" cy="8079216"/>
          </a:xfrm>
          <a:custGeom>
            <a:avLst/>
            <a:gdLst/>
            <a:ahLst/>
            <a:cxnLst/>
            <a:rect l="l" t="t" r="r" b="b"/>
            <a:pathLst>
              <a:path w="11686005" h="8079216">
                <a:moveTo>
                  <a:pt x="0" y="0"/>
                </a:moveTo>
                <a:lnTo>
                  <a:pt x="11686005" y="0"/>
                </a:lnTo>
                <a:lnTo>
                  <a:pt x="11686005" y="8079216"/>
                </a:lnTo>
                <a:lnTo>
                  <a:pt x="0" y="8079216"/>
                </a:lnTo>
                <a:lnTo>
                  <a:pt x="0" y="0"/>
                </a:lnTo>
                <a:close/>
              </a:path>
            </a:pathLst>
          </a:custGeom>
          <a:blipFill>
            <a:blip r:embed="rId2"/>
            <a:stretch>
              <a:fillRect l="-4794" r="-4794" b="-854"/>
            </a:stretch>
          </a:blipFill>
        </p:spPr>
      </p:sp>
      <p:sp>
        <p:nvSpPr>
          <p:cNvPr id="15" name="TextBox 15"/>
          <p:cNvSpPr txBox="1"/>
          <p:nvPr/>
        </p:nvSpPr>
        <p:spPr>
          <a:xfrm>
            <a:off x="1028700" y="2283021"/>
            <a:ext cx="4722394" cy="5434393"/>
          </a:xfrm>
          <a:prstGeom prst="rect">
            <a:avLst/>
          </a:prstGeom>
        </p:spPr>
        <p:txBody>
          <a:bodyPr lIns="0" tIns="0" rIns="0" bIns="0" rtlCol="0" anchor="t">
            <a:spAutoFit/>
          </a:bodyPr>
          <a:lstStyle/>
          <a:p>
            <a:pPr marL="0" lvl="0" indent="0" algn="l">
              <a:lnSpc>
                <a:spcPts val="4404"/>
              </a:lnSpc>
              <a:spcBef>
                <a:spcPct val="0"/>
              </a:spcBef>
            </a:pPr>
            <a:r>
              <a:rPr lang="en-US" sz="3495" u="none">
                <a:solidFill>
                  <a:srgbClr val="F5F7F7"/>
                </a:solidFill>
                <a:latin typeface="Ovo"/>
                <a:ea typeface="Ovo"/>
                <a:cs typeface="Ovo"/>
                <a:sym typeface="Ovo"/>
              </a:rPr>
              <a:t>The core problem lies in the lack of affordable and comprehensive assistive technologies that provide visually impaired individuals with real-time information about their surroundings.</a:t>
            </a:r>
          </a:p>
          <a:p>
            <a:pPr marL="0" lvl="0" indent="0" algn="l">
              <a:lnSpc>
                <a:spcPts val="4404"/>
              </a:lnSpc>
              <a:spcBef>
                <a:spcPct val="0"/>
              </a:spcBef>
            </a:pPr>
            <a:endParaRPr lang="en-US" sz="3495" u="none">
              <a:solidFill>
                <a:srgbClr val="F5F7F7"/>
              </a:solidFill>
              <a:latin typeface="Ovo"/>
              <a:ea typeface="Ovo"/>
              <a:cs typeface="Ovo"/>
              <a:sym typeface="Ovo"/>
            </a:endParaRPr>
          </a:p>
        </p:txBody>
      </p:sp>
      <p:sp>
        <p:nvSpPr>
          <p:cNvPr id="16" name="TextBox 16"/>
          <p:cNvSpPr txBox="1"/>
          <p:nvPr/>
        </p:nvSpPr>
        <p:spPr>
          <a:xfrm>
            <a:off x="818836" y="1008965"/>
            <a:ext cx="7545075" cy="664456"/>
          </a:xfrm>
          <a:prstGeom prst="rect">
            <a:avLst/>
          </a:prstGeom>
        </p:spPr>
        <p:txBody>
          <a:bodyPr lIns="0" tIns="0" rIns="0" bIns="0" rtlCol="0" anchor="t">
            <a:spAutoFit/>
          </a:bodyPr>
          <a:lstStyle/>
          <a:p>
            <a:pPr marL="0" lvl="0" indent="0" algn="l">
              <a:lnSpc>
                <a:spcPts val="5086"/>
              </a:lnSpc>
              <a:spcBef>
                <a:spcPct val="0"/>
              </a:spcBef>
            </a:pPr>
            <a:r>
              <a:rPr lang="en-US" sz="5036" b="1">
                <a:solidFill>
                  <a:srgbClr val="F5F7F7"/>
                </a:solidFill>
                <a:latin typeface="Garet Bold"/>
                <a:ea typeface="Garet Bold"/>
                <a:cs typeface="Garet Bold"/>
                <a:sym typeface="Garet Bold"/>
              </a:rPr>
              <a:t>PROBLEM STATEMENT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E2024"/>
        </a:solidFill>
        <a:effectLst/>
      </p:bgPr>
    </p:bg>
    <p:spTree>
      <p:nvGrpSpPr>
        <p:cNvPr id="1" name=""/>
        <p:cNvGrpSpPr/>
        <p:nvPr/>
      </p:nvGrpSpPr>
      <p:grpSpPr>
        <a:xfrm>
          <a:off x="0" y="0"/>
          <a:ext cx="0" cy="0"/>
          <a:chOff x="0" y="0"/>
          <a:chExt cx="0" cy="0"/>
        </a:xfrm>
      </p:grpSpPr>
      <p:grpSp>
        <p:nvGrpSpPr>
          <p:cNvPr id="2" name="Group 2"/>
          <p:cNvGrpSpPr/>
          <p:nvPr/>
        </p:nvGrpSpPr>
        <p:grpSpPr>
          <a:xfrm>
            <a:off x="17802738" y="1654020"/>
            <a:ext cx="1315151" cy="131515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66675" cap="sq">
              <a:solidFill>
                <a:srgbClr val="FFE953"/>
              </a:solidFill>
              <a:prstDash val="solid"/>
              <a:miter/>
            </a:ln>
          </p:spPr>
        </p:sp>
        <p:sp>
          <p:nvSpPr>
            <p:cNvPr id="4" name="TextBox 4"/>
            <p:cNvSpPr txBox="1"/>
            <p:nvPr/>
          </p:nvSpPr>
          <p:spPr>
            <a:xfrm>
              <a:off x="76200" y="66675"/>
              <a:ext cx="660400" cy="669925"/>
            </a:xfrm>
            <a:prstGeom prst="rect">
              <a:avLst/>
            </a:prstGeom>
          </p:spPr>
          <p:txBody>
            <a:bodyPr lIns="50800" tIns="50800" rIns="50800" bIns="50800" rtlCol="0" anchor="ctr"/>
            <a:lstStyle/>
            <a:p>
              <a:pPr marL="0" lvl="0" indent="0" algn="ctr">
                <a:lnSpc>
                  <a:spcPts val="1919"/>
                </a:lnSpc>
                <a:spcBef>
                  <a:spcPct val="0"/>
                </a:spcBef>
              </a:pPr>
              <a:endParaRPr/>
            </a:p>
          </p:txBody>
        </p:sp>
      </p:grpSp>
      <p:grpSp>
        <p:nvGrpSpPr>
          <p:cNvPr id="5" name="Group 5"/>
          <p:cNvGrpSpPr/>
          <p:nvPr/>
        </p:nvGrpSpPr>
        <p:grpSpPr>
          <a:xfrm>
            <a:off x="-813906" y="5973347"/>
            <a:ext cx="1315151" cy="131515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66675" cap="sq">
              <a:solidFill>
                <a:srgbClr val="FFE953"/>
              </a:solidFill>
              <a:prstDash val="solid"/>
              <a:miter/>
            </a:ln>
          </p:spPr>
        </p:sp>
        <p:sp>
          <p:nvSpPr>
            <p:cNvPr id="7" name="TextBox 7"/>
            <p:cNvSpPr txBox="1"/>
            <p:nvPr/>
          </p:nvSpPr>
          <p:spPr>
            <a:xfrm>
              <a:off x="76200" y="66675"/>
              <a:ext cx="660400" cy="669925"/>
            </a:xfrm>
            <a:prstGeom prst="rect">
              <a:avLst/>
            </a:prstGeom>
          </p:spPr>
          <p:txBody>
            <a:bodyPr lIns="50800" tIns="50800" rIns="50800" bIns="50800" rtlCol="0" anchor="ctr"/>
            <a:lstStyle/>
            <a:p>
              <a:pPr marL="0" lvl="0" indent="0" algn="ctr">
                <a:lnSpc>
                  <a:spcPts val="1919"/>
                </a:lnSpc>
                <a:spcBef>
                  <a:spcPct val="0"/>
                </a:spcBef>
              </a:pPr>
              <a:endParaRPr/>
            </a:p>
          </p:txBody>
        </p:sp>
      </p:grpSp>
      <p:grpSp>
        <p:nvGrpSpPr>
          <p:cNvPr id="8" name="Group 8"/>
          <p:cNvGrpSpPr/>
          <p:nvPr/>
        </p:nvGrpSpPr>
        <p:grpSpPr>
          <a:xfrm>
            <a:off x="818836" y="9629424"/>
            <a:ext cx="1315151" cy="1315151"/>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EE9E9"/>
            </a:solidFill>
          </p:spPr>
        </p:sp>
        <p:sp>
          <p:nvSpPr>
            <p:cNvPr id="10" name="TextBox 10"/>
            <p:cNvSpPr txBox="1"/>
            <p:nvPr/>
          </p:nvSpPr>
          <p:spPr>
            <a:xfrm>
              <a:off x="76200" y="66675"/>
              <a:ext cx="660400" cy="669925"/>
            </a:xfrm>
            <a:prstGeom prst="rect">
              <a:avLst/>
            </a:prstGeom>
          </p:spPr>
          <p:txBody>
            <a:bodyPr lIns="50800" tIns="50800" rIns="50800" bIns="50800" rtlCol="0" anchor="ctr"/>
            <a:lstStyle/>
            <a:p>
              <a:pPr algn="ctr">
                <a:lnSpc>
                  <a:spcPts val="1919"/>
                </a:lnSpc>
              </a:pPr>
              <a:endParaRPr/>
            </a:p>
          </p:txBody>
        </p:sp>
      </p:grpSp>
      <p:grpSp>
        <p:nvGrpSpPr>
          <p:cNvPr id="11" name="Group 11"/>
          <p:cNvGrpSpPr/>
          <p:nvPr/>
        </p:nvGrpSpPr>
        <p:grpSpPr>
          <a:xfrm>
            <a:off x="1638060" y="8606426"/>
            <a:ext cx="1315151" cy="1315151"/>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EE9E9"/>
            </a:solidFill>
          </p:spPr>
        </p:sp>
        <p:sp>
          <p:nvSpPr>
            <p:cNvPr id="13" name="TextBox 13"/>
            <p:cNvSpPr txBox="1"/>
            <p:nvPr/>
          </p:nvSpPr>
          <p:spPr>
            <a:xfrm>
              <a:off x="76200" y="66675"/>
              <a:ext cx="660400" cy="669925"/>
            </a:xfrm>
            <a:prstGeom prst="rect">
              <a:avLst/>
            </a:prstGeom>
          </p:spPr>
          <p:txBody>
            <a:bodyPr lIns="50800" tIns="50800" rIns="50800" bIns="50800" rtlCol="0" anchor="ctr"/>
            <a:lstStyle/>
            <a:p>
              <a:pPr algn="ctr">
                <a:lnSpc>
                  <a:spcPts val="1919"/>
                </a:lnSpc>
              </a:pPr>
              <a:endParaRPr/>
            </a:p>
          </p:txBody>
        </p:sp>
      </p:grpSp>
      <p:sp>
        <p:nvSpPr>
          <p:cNvPr id="14" name="Freeform 14"/>
          <p:cNvSpPr/>
          <p:nvPr/>
        </p:nvSpPr>
        <p:spPr>
          <a:xfrm>
            <a:off x="8457275" y="1840111"/>
            <a:ext cx="9345463" cy="7009098"/>
          </a:xfrm>
          <a:custGeom>
            <a:avLst/>
            <a:gdLst/>
            <a:ahLst/>
            <a:cxnLst/>
            <a:rect l="l" t="t" r="r" b="b"/>
            <a:pathLst>
              <a:path w="9345463" h="7009098">
                <a:moveTo>
                  <a:pt x="0" y="0"/>
                </a:moveTo>
                <a:lnTo>
                  <a:pt x="9345463" y="0"/>
                </a:lnTo>
                <a:lnTo>
                  <a:pt x="9345463" y="7009098"/>
                </a:lnTo>
                <a:lnTo>
                  <a:pt x="0" y="7009098"/>
                </a:lnTo>
                <a:lnTo>
                  <a:pt x="0" y="0"/>
                </a:lnTo>
                <a:close/>
              </a:path>
            </a:pathLst>
          </a:custGeom>
          <a:blipFill>
            <a:blip r:embed="rId2"/>
            <a:stretch>
              <a:fillRect/>
            </a:stretch>
          </a:blipFill>
        </p:spPr>
      </p:sp>
      <p:sp>
        <p:nvSpPr>
          <p:cNvPr id="15" name="TextBox 15"/>
          <p:cNvSpPr txBox="1"/>
          <p:nvPr/>
        </p:nvSpPr>
        <p:spPr>
          <a:xfrm>
            <a:off x="1028700" y="1926206"/>
            <a:ext cx="7140216" cy="7402457"/>
          </a:xfrm>
          <a:prstGeom prst="rect">
            <a:avLst/>
          </a:prstGeom>
        </p:spPr>
        <p:txBody>
          <a:bodyPr lIns="0" tIns="0" rIns="0" bIns="0" rtlCol="0" anchor="t">
            <a:spAutoFit/>
          </a:bodyPr>
          <a:lstStyle/>
          <a:p>
            <a:pPr marL="0" lvl="0" indent="0" algn="l">
              <a:lnSpc>
                <a:spcPts val="3154"/>
              </a:lnSpc>
              <a:spcBef>
                <a:spcPct val="0"/>
              </a:spcBef>
            </a:pPr>
            <a:r>
              <a:rPr lang="en-US" sz="2503">
                <a:solidFill>
                  <a:srgbClr val="F5F7F7"/>
                </a:solidFill>
                <a:latin typeface="Ovo"/>
                <a:ea typeface="Ovo"/>
                <a:cs typeface="Ovo"/>
                <a:sym typeface="Ovo"/>
              </a:rPr>
              <a:t>Ou</a:t>
            </a:r>
            <a:r>
              <a:rPr lang="en-US" sz="2503" u="none">
                <a:solidFill>
                  <a:srgbClr val="F5F7F7"/>
                </a:solidFill>
                <a:latin typeface="Ovo"/>
                <a:ea typeface="Ovo"/>
                <a:cs typeface="Ovo"/>
                <a:sym typeface="Ovo"/>
              </a:rPr>
              <a:t>r proposed solution involves an enhanced text-to-speech model that incorporates object detection and spatial awareness capabilities. The system utilizes a camera to continuously scan the surroundings, detect nearby objects, and determine their relative position (left, right, or front). This information is then instantly converted into speech output, providing users with real-time alerts about obstacles and their positions. </a:t>
            </a:r>
          </a:p>
          <a:p>
            <a:pPr marL="0" lvl="0" indent="0" algn="l">
              <a:lnSpc>
                <a:spcPts val="3154"/>
              </a:lnSpc>
              <a:spcBef>
                <a:spcPct val="0"/>
              </a:spcBef>
            </a:pPr>
            <a:r>
              <a:rPr lang="en-US" sz="2503" u="none">
                <a:solidFill>
                  <a:srgbClr val="F5F7F7"/>
                </a:solidFill>
                <a:latin typeface="Ovo"/>
                <a:ea typeface="Ovo"/>
                <a:cs typeface="Ovo"/>
                <a:sym typeface="Ovo"/>
              </a:rPr>
              <a:t>“The system can be seamlessly integrated with Samsung Galaxy devices and Samsung’s AI ecosystem, allowing real-time visual data processing and voice feedback directly through a Samsung Galaxy smartphone, Galaxy Buds, or Galaxy Watch. This enables hands-free assistance for visually impaired users anywhere, without needing external hardware.”</a:t>
            </a:r>
          </a:p>
          <a:p>
            <a:pPr marL="0" lvl="0" indent="0" algn="l">
              <a:lnSpc>
                <a:spcPts val="3154"/>
              </a:lnSpc>
              <a:spcBef>
                <a:spcPct val="0"/>
              </a:spcBef>
            </a:pPr>
            <a:endParaRPr lang="en-US" sz="2503" u="none">
              <a:solidFill>
                <a:srgbClr val="F5F7F7"/>
              </a:solidFill>
              <a:latin typeface="Ovo"/>
              <a:ea typeface="Ovo"/>
              <a:cs typeface="Ovo"/>
              <a:sym typeface="Ovo"/>
            </a:endParaRPr>
          </a:p>
          <a:p>
            <a:pPr marL="0" lvl="0" indent="0" algn="l">
              <a:lnSpc>
                <a:spcPts val="3154"/>
              </a:lnSpc>
              <a:spcBef>
                <a:spcPct val="0"/>
              </a:spcBef>
            </a:pPr>
            <a:endParaRPr lang="en-US" sz="2503" u="none">
              <a:solidFill>
                <a:srgbClr val="F5F7F7"/>
              </a:solidFill>
              <a:latin typeface="Ovo"/>
              <a:ea typeface="Ovo"/>
              <a:cs typeface="Ovo"/>
              <a:sym typeface="Ovo"/>
            </a:endParaRPr>
          </a:p>
        </p:txBody>
      </p:sp>
      <p:sp>
        <p:nvSpPr>
          <p:cNvPr id="16" name="TextBox 16"/>
          <p:cNvSpPr txBox="1"/>
          <p:nvPr/>
        </p:nvSpPr>
        <p:spPr>
          <a:xfrm>
            <a:off x="1028700" y="989564"/>
            <a:ext cx="9714757" cy="664456"/>
          </a:xfrm>
          <a:prstGeom prst="rect">
            <a:avLst/>
          </a:prstGeom>
        </p:spPr>
        <p:txBody>
          <a:bodyPr lIns="0" tIns="0" rIns="0" bIns="0" rtlCol="0" anchor="t">
            <a:spAutoFit/>
          </a:bodyPr>
          <a:lstStyle/>
          <a:p>
            <a:pPr marL="0" lvl="0" indent="0" algn="l">
              <a:lnSpc>
                <a:spcPts val="5086"/>
              </a:lnSpc>
              <a:spcBef>
                <a:spcPct val="0"/>
              </a:spcBef>
            </a:pPr>
            <a:r>
              <a:rPr lang="en-US" sz="5036" b="1">
                <a:solidFill>
                  <a:srgbClr val="F5F7F7"/>
                </a:solidFill>
                <a:latin typeface="Garet Bold"/>
                <a:ea typeface="Garet Bold"/>
                <a:cs typeface="Garet Bold"/>
                <a:sym typeface="Garet Bold"/>
              </a:rPr>
              <a:t>PROPOSED SOLUTION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E2024"/>
        </a:solidFill>
        <a:effectLst/>
      </p:bgPr>
    </p:bg>
    <p:spTree>
      <p:nvGrpSpPr>
        <p:cNvPr id="1" name=""/>
        <p:cNvGrpSpPr/>
        <p:nvPr/>
      </p:nvGrpSpPr>
      <p:grpSpPr>
        <a:xfrm>
          <a:off x="0" y="0"/>
          <a:ext cx="0" cy="0"/>
          <a:chOff x="0" y="0"/>
          <a:chExt cx="0" cy="0"/>
        </a:xfrm>
      </p:grpSpPr>
      <p:grpSp>
        <p:nvGrpSpPr>
          <p:cNvPr id="2" name="Group 2"/>
          <p:cNvGrpSpPr/>
          <p:nvPr/>
        </p:nvGrpSpPr>
        <p:grpSpPr>
          <a:xfrm>
            <a:off x="17259300" y="-261082"/>
            <a:ext cx="1315151" cy="131515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66675" cap="sq">
              <a:solidFill>
                <a:srgbClr val="FFE953"/>
              </a:solidFill>
              <a:prstDash val="solid"/>
              <a:miter/>
            </a:ln>
          </p:spPr>
        </p:sp>
        <p:sp>
          <p:nvSpPr>
            <p:cNvPr id="4" name="TextBox 4"/>
            <p:cNvSpPr txBox="1"/>
            <p:nvPr/>
          </p:nvSpPr>
          <p:spPr>
            <a:xfrm>
              <a:off x="76200" y="66675"/>
              <a:ext cx="660400" cy="669925"/>
            </a:xfrm>
            <a:prstGeom prst="rect">
              <a:avLst/>
            </a:prstGeom>
          </p:spPr>
          <p:txBody>
            <a:bodyPr lIns="50800" tIns="50800" rIns="50800" bIns="50800" rtlCol="0" anchor="ctr"/>
            <a:lstStyle/>
            <a:p>
              <a:pPr marL="0" lvl="0" indent="0" algn="ctr">
                <a:lnSpc>
                  <a:spcPts val="1919"/>
                </a:lnSpc>
                <a:spcBef>
                  <a:spcPct val="0"/>
                </a:spcBef>
              </a:pPr>
              <a:endParaRPr/>
            </a:p>
          </p:txBody>
        </p:sp>
      </p:grpSp>
      <p:grpSp>
        <p:nvGrpSpPr>
          <p:cNvPr id="5" name="Group 5"/>
          <p:cNvGrpSpPr/>
          <p:nvPr/>
        </p:nvGrpSpPr>
        <p:grpSpPr>
          <a:xfrm>
            <a:off x="-813906" y="5973347"/>
            <a:ext cx="1315151" cy="131515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66675" cap="sq">
              <a:solidFill>
                <a:srgbClr val="FFE953"/>
              </a:solidFill>
              <a:prstDash val="solid"/>
              <a:miter/>
            </a:ln>
          </p:spPr>
        </p:sp>
        <p:sp>
          <p:nvSpPr>
            <p:cNvPr id="7" name="TextBox 7"/>
            <p:cNvSpPr txBox="1"/>
            <p:nvPr/>
          </p:nvSpPr>
          <p:spPr>
            <a:xfrm>
              <a:off x="76200" y="66675"/>
              <a:ext cx="660400" cy="669925"/>
            </a:xfrm>
            <a:prstGeom prst="rect">
              <a:avLst/>
            </a:prstGeom>
          </p:spPr>
          <p:txBody>
            <a:bodyPr lIns="50800" tIns="50800" rIns="50800" bIns="50800" rtlCol="0" anchor="ctr"/>
            <a:lstStyle/>
            <a:p>
              <a:pPr marL="0" lvl="0" indent="0" algn="ctr">
                <a:lnSpc>
                  <a:spcPts val="1919"/>
                </a:lnSpc>
                <a:spcBef>
                  <a:spcPct val="0"/>
                </a:spcBef>
              </a:pPr>
              <a:endParaRPr/>
            </a:p>
          </p:txBody>
        </p:sp>
      </p:grpSp>
      <p:grpSp>
        <p:nvGrpSpPr>
          <p:cNvPr id="8" name="Group 8"/>
          <p:cNvGrpSpPr/>
          <p:nvPr/>
        </p:nvGrpSpPr>
        <p:grpSpPr>
          <a:xfrm>
            <a:off x="818836" y="9629424"/>
            <a:ext cx="1315151" cy="1315151"/>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EE9E9"/>
            </a:solidFill>
          </p:spPr>
        </p:sp>
        <p:sp>
          <p:nvSpPr>
            <p:cNvPr id="10" name="TextBox 10"/>
            <p:cNvSpPr txBox="1"/>
            <p:nvPr/>
          </p:nvSpPr>
          <p:spPr>
            <a:xfrm>
              <a:off x="76200" y="66675"/>
              <a:ext cx="660400" cy="669925"/>
            </a:xfrm>
            <a:prstGeom prst="rect">
              <a:avLst/>
            </a:prstGeom>
          </p:spPr>
          <p:txBody>
            <a:bodyPr lIns="50800" tIns="50800" rIns="50800" bIns="50800" rtlCol="0" anchor="ctr"/>
            <a:lstStyle/>
            <a:p>
              <a:pPr algn="ctr">
                <a:lnSpc>
                  <a:spcPts val="1919"/>
                </a:lnSpc>
              </a:pPr>
              <a:endParaRPr/>
            </a:p>
          </p:txBody>
        </p:sp>
      </p:grpSp>
      <p:grpSp>
        <p:nvGrpSpPr>
          <p:cNvPr id="11" name="Group 11"/>
          <p:cNvGrpSpPr/>
          <p:nvPr/>
        </p:nvGrpSpPr>
        <p:grpSpPr>
          <a:xfrm>
            <a:off x="1638060" y="8606426"/>
            <a:ext cx="1315151" cy="1315151"/>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EE9E9"/>
            </a:solidFill>
          </p:spPr>
        </p:sp>
        <p:sp>
          <p:nvSpPr>
            <p:cNvPr id="13" name="TextBox 13"/>
            <p:cNvSpPr txBox="1"/>
            <p:nvPr/>
          </p:nvSpPr>
          <p:spPr>
            <a:xfrm>
              <a:off x="76200" y="66675"/>
              <a:ext cx="660400" cy="669925"/>
            </a:xfrm>
            <a:prstGeom prst="rect">
              <a:avLst/>
            </a:prstGeom>
          </p:spPr>
          <p:txBody>
            <a:bodyPr lIns="50800" tIns="50800" rIns="50800" bIns="50800" rtlCol="0" anchor="ctr"/>
            <a:lstStyle/>
            <a:p>
              <a:pPr algn="ctr">
                <a:lnSpc>
                  <a:spcPts val="1919"/>
                </a:lnSpc>
              </a:pPr>
              <a:endParaRPr/>
            </a:p>
          </p:txBody>
        </p:sp>
      </p:grpSp>
      <p:sp>
        <p:nvSpPr>
          <p:cNvPr id="14" name="Freeform 14"/>
          <p:cNvSpPr/>
          <p:nvPr/>
        </p:nvSpPr>
        <p:spPr>
          <a:xfrm>
            <a:off x="282540" y="1503402"/>
            <a:ext cx="9913544" cy="5293794"/>
          </a:xfrm>
          <a:custGeom>
            <a:avLst/>
            <a:gdLst/>
            <a:ahLst/>
            <a:cxnLst/>
            <a:rect l="l" t="t" r="r" b="b"/>
            <a:pathLst>
              <a:path w="9913544" h="5293794">
                <a:moveTo>
                  <a:pt x="0" y="0"/>
                </a:moveTo>
                <a:lnTo>
                  <a:pt x="9913544" y="0"/>
                </a:lnTo>
                <a:lnTo>
                  <a:pt x="9913544" y="5293793"/>
                </a:lnTo>
                <a:lnTo>
                  <a:pt x="0" y="5293793"/>
                </a:lnTo>
                <a:lnTo>
                  <a:pt x="0" y="0"/>
                </a:lnTo>
                <a:close/>
              </a:path>
            </a:pathLst>
          </a:custGeom>
          <a:blipFill>
            <a:blip r:embed="rId2"/>
            <a:stretch>
              <a:fillRect r="-1713"/>
            </a:stretch>
          </a:blipFill>
        </p:spPr>
      </p:sp>
      <p:sp>
        <p:nvSpPr>
          <p:cNvPr id="15" name="Freeform 15"/>
          <p:cNvSpPr/>
          <p:nvPr/>
        </p:nvSpPr>
        <p:spPr>
          <a:xfrm>
            <a:off x="7426597" y="4057632"/>
            <a:ext cx="11301259" cy="5479126"/>
          </a:xfrm>
          <a:custGeom>
            <a:avLst/>
            <a:gdLst/>
            <a:ahLst/>
            <a:cxnLst/>
            <a:rect l="l" t="t" r="r" b="b"/>
            <a:pathLst>
              <a:path w="11301259" h="5479126">
                <a:moveTo>
                  <a:pt x="0" y="0"/>
                </a:moveTo>
                <a:lnTo>
                  <a:pt x="11301259" y="0"/>
                </a:lnTo>
                <a:lnTo>
                  <a:pt x="11301259" y="5479126"/>
                </a:lnTo>
                <a:lnTo>
                  <a:pt x="0" y="5479126"/>
                </a:lnTo>
                <a:lnTo>
                  <a:pt x="0" y="0"/>
                </a:lnTo>
                <a:close/>
              </a:path>
            </a:pathLst>
          </a:custGeom>
          <a:blipFill>
            <a:blip r:embed="rId3"/>
            <a:stretch>
              <a:fillRect b="-11122"/>
            </a:stretch>
          </a:blipFill>
        </p:spPr>
      </p:sp>
      <p:sp>
        <p:nvSpPr>
          <p:cNvPr id="16" name="TextBox 16"/>
          <p:cNvSpPr txBox="1"/>
          <p:nvPr/>
        </p:nvSpPr>
        <p:spPr>
          <a:xfrm>
            <a:off x="1028700" y="491744"/>
            <a:ext cx="8834953" cy="664456"/>
          </a:xfrm>
          <a:prstGeom prst="rect">
            <a:avLst/>
          </a:prstGeom>
        </p:spPr>
        <p:txBody>
          <a:bodyPr lIns="0" tIns="0" rIns="0" bIns="0" rtlCol="0" anchor="t">
            <a:spAutoFit/>
          </a:bodyPr>
          <a:lstStyle/>
          <a:p>
            <a:pPr marL="0" lvl="0" indent="0" algn="l">
              <a:lnSpc>
                <a:spcPts val="5086"/>
              </a:lnSpc>
              <a:spcBef>
                <a:spcPct val="0"/>
              </a:spcBef>
            </a:pPr>
            <a:r>
              <a:rPr lang="en-US" sz="5036" b="1">
                <a:solidFill>
                  <a:srgbClr val="F5F7F7"/>
                </a:solidFill>
                <a:latin typeface="Garet Bold"/>
                <a:ea typeface="Garet Bold"/>
                <a:cs typeface="Garet Bold"/>
                <a:sym typeface="Garet Bold"/>
              </a:rPr>
              <a:t>SYSTEM ARCHITECTURE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3533CD">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17802738" y="1654020"/>
            <a:ext cx="1315151" cy="131515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66675" cap="sq">
              <a:solidFill>
                <a:srgbClr val="FFE953"/>
              </a:solidFill>
              <a:prstDash val="solid"/>
              <a:miter/>
            </a:ln>
          </p:spPr>
        </p:sp>
        <p:sp>
          <p:nvSpPr>
            <p:cNvPr id="4" name="TextBox 4"/>
            <p:cNvSpPr txBox="1"/>
            <p:nvPr/>
          </p:nvSpPr>
          <p:spPr>
            <a:xfrm>
              <a:off x="76200" y="66675"/>
              <a:ext cx="660400" cy="669925"/>
            </a:xfrm>
            <a:prstGeom prst="rect">
              <a:avLst/>
            </a:prstGeom>
          </p:spPr>
          <p:txBody>
            <a:bodyPr lIns="50800" tIns="50800" rIns="50800" bIns="50800" rtlCol="0" anchor="ctr"/>
            <a:lstStyle/>
            <a:p>
              <a:pPr marL="0" lvl="0" indent="0" algn="ctr">
                <a:lnSpc>
                  <a:spcPts val="1919"/>
                </a:lnSpc>
                <a:spcBef>
                  <a:spcPct val="0"/>
                </a:spcBef>
              </a:pPr>
              <a:endParaRPr/>
            </a:p>
          </p:txBody>
        </p:sp>
      </p:grpSp>
      <p:grpSp>
        <p:nvGrpSpPr>
          <p:cNvPr id="5" name="Group 5"/>
          <p:cNvGrpSpPr/>
          <p:nvPr/>
        </p:nvGrpSpPr>
        <p:grpSpPr>
          <a:xfrm>
            <a:off x="-813906" y="5973347"/>
            <a:ext cx="1315151" cy="131515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66675" cap="sq">
              <a:solidFill>
                <a:srgbClr val="FFE953"/>
              </a:solidFill>
              <a:prstDash val="solid"/>
              <a:miter/>
            </a:ln>
          </p:spPr>
        </p:sp>
        <p:sp>
          <p:nvSpPr>
            <p:cNvPr id="7" name="TextBox 7"/>
            <p:cNvSpPr txBox="1"/>
            <p:nvPr/>
          </p:nvSpPr>
          <p:spPr>
            <a:xfrm>
              <a:off x="76200" y="66675"/>
              <a:ext cx="660400" cy="669925"/>
            </a:xfrm>
            <a:prstGeom prst="rect">
              <a:avLst/>
            </a:prstGeom>
          </p:spPr>
          <p:txBody>
            <a:bodyPr lIns="50800" tIns="50800" rIns="50800" bIns="50800" rtlCol="0" anchor="ctr"/>
            <a:lstStyle/>
            <a:p>
              <a:pPr marL="0" lvl="0" indent="0" algn="ctr">
                <a:lnSpc>
                  <a:spcPts val="1919"/>
                </a:lnSpc>
                <a:spcBef>
                  <a:spcPct val="0"/>
                </a:spcBef>
              </a:pPr>
              <a:endParaRPr/>
            </a:p>
          </p:txBody>
        </p:sp>
      </p:grpSp>
      <p:grpSp>
        <p:nvGrpSpPr>
          <p:cNvPr id="8" name="Group 8"/>
          <p:cNvGrpSpPr/>
          <p:nvPr/>
        </p:nvGrpSpPr>
        <p:grpSpPr>
          <a:xfrm>
            <a:off x="818836" y="9629424"/>
            <a:ext cx="1315151" cy="1315151"/>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EE9E9"/>
            </a:solidFill>
          </p:spPr>
        </p:sp>
        <p:sp>
          <p:nvSpPr>
            <p:cNvPr id="10" name="TextBox 10"/>
            <p:cNvSpPr txBox="1"/>
            <p:nvPr/>
          </p:nvSpPr>
          <p:spPr>
            <a:xfrm>
              <a:off x="76200" y="66675"/>
              <a:ext cx="660400" cy="669925"/>
            </a:xfrm>
            <a:prstGeom prst="rect">
              <a:avLst/>
            </a:prstGeom>
          </p:spPr>
          <p:txBody>
            <a:bodyPr lIns="50800" tIns="50800" rIns="50800" bIns="50800" rtlCol="0" anchor="ctr"/>
            <a:lstStyle/>
            <a:p>
              <a:pPr algn="ctr">
                <a:lnSpc>
                  <a:spcPts val="1919"/>
                </a:lnSpc>
              </a:pPr>
              <a:endParaRPr/>
            </a:p>
          </p:txBody>
        </p:sp>
      </p:grpSp>
      <p:sp>
        <p:nvSpPr>
          <p:cNvPr id="11" name="Freeform 11"/>
          <p:cNvSpPr/>
          <p:nvPr/>
        </p:nvSpPr>
        <p:spPr>
          <a:xfrm>
            <a:off x="501246" y="1688424"/>
            <a:ext cx="9203951" cy="6910151"/>
          </a:xfrm>
          <a:custGeom>
            <a:avLst/>
            <a:gdLst/>
            <a:ahLst/>
            <a:cxnLst/>
            <a:rect l="l" t="t" r="r" b="b"/>
            <a:pathLst>
              <a:path w="9203951" h="6910151">
                <a:moveTo>
                  <a:pt x="0" y="0"/>
                </a:moveTo>
                <a:lnTo>
                  <a:pt x="9203951" y="0"/>
                </a:lnTo>
                <a:lnTo>
                  <a:pt x="9203951" y="6910152"/>
                </a:lnTo>
                <a:lnTo>
                  <a:pt x="0" y="6910152"/>
                </a:lnTo>
                <a:lnTo>
                  <a:pt x="0" y="0"/>
                </a:lnTo>
                <a:close/>
              </a:path>
            </a:pathLst>
          </a:custGeom>
          <a:blipFill>
            <a:blip r:embed="rId2"/>
            <a:stretch>
              <a:fillRect b="-7490"/>
            </a:stretch>
          </a:blipFill>
        </p:spPr>
      </p:sp>
      <p:sp>
        <p:nvSpPr>
          <p:cNvPr id="12" name="TextBox 12"/>
          <p:cNvSpPr txBox="1"/>
          <p:nvPr/>
        </p:nvSpPr>
        <p:spPr>
          <a:xfrm>
            <a:off x="9705197" y="2008275"/>
            <a:ext cx="7294857" cy="6194251"/>
          </a:xfrm>
          <a:prstGeom prst="rect">
            <a:avLst/>
          </a:prstGeom>
        </p:spPr>
        <p:txBody>
          <a:bodyPr lIns="0" tIns="0" rIns="0" bIns="0" rtlCol="0" anchor="t">
            <a:spAutoFit/>
          </a:bodyPr>
          <a:lstStyle/>
          <a:p>
            <a:pPr marL="511409" lvl="1" indent="-255705" algn="l">
              <a:lnSpc>
                <a:spcPts val="3553"/>
              </a:lnSpc>
              <a:buFont typeface="Arial"/>
              <a:buChar char="•"/>
            </a:pPr>
            <a:r>
              <a:rPr lang="en-US" sz="2368">
                <a:solidFill>
                  <a:srgbClr val="B4B4B4"/>
                </a:solidFill>
                <a:latin typeface="Ovo"/>
                <a:ea typeface="Ovo"/>
                <a:cs typeface="Ovo"/>
                <a:sym typeface="Ovo"/>
              </a:rPr>
              <a:t>Librari</a:t>
            </a:r>
            <a:r>
              <a:rPr lang="en-US" sz="2368" u="none">
                <a:solidFill>
                  <a:srgbClr val="B4B4B4"/>
                </a:solidFill>
                <a:latin typeface="Ovo"/>
                <a:ea typeface="Ovo"/>
                <a:cs typeface="Ovo"/>
                <a:sym typeface="Ovo"/>
              </a:rPr>
              <a:t>es &amp; Models:</a:t>
            </a:r>
            <a:r>
              <a:rPr lang="en-US" sz="2368" u="none">
                <a:solidFill>
                  <a:srgbClr val="F5F7F7"/>
                </a:solidFill>
                <a:latin typeface="Ovo"/>
                <a:ea typeface="Ovo"/>
                <a:cs typeface="Ovo"/>
                <a:sym typeface="Ovo"/>
              </a:rPr>
              <a:t>  YOLOv8 for object detection, OpenCV for video, Pytesseract for OCR, Pyttsx3 for TTS.</a:t>
            </a:r>
          </a:p>
          <a:p>
            <a:pPr marL="511409" lvl="1" indent="-255705" algn="l">
              <a:lnSpc>
                <a:spcPts val="2984"/>
              </a:lnSpc>
              <a:spcBef>
                <a:spcPct val="0"/>
              </a:spcBef>
              <a:buFont typeface="Arial"/>
              <a:buChar char="•"/>
            </a:pPr>
            <a:r>
              <a:rPr lang="en-US" sz="2368" u="none">
                <a:solidFill>
                  <a:srgbClr val="B4B4B4"/>
                </a:solidFill>
                <a:latin typeface="Ovo"/>
                <a:ea typeface="Ovo"/>
                <a:cs typeface="Ovo"/>
                <a:sym typeface="Ovo"/>
              </a:rPr>
              <a:t>Object Detection:</a:t>
            </a:r>
            <a:r>
              <a:rPr lang="en-US" sz="2368" u="none">
                <a:solidFill>
                  <a:srgbClr val="F5F7F7"/>
                </a:solidFill>
                <a:latin typeface="Ovo"/>
                <a:ea typeface="Ovo"/>
                <a:cs typeface="Ovo"/>
                <a:sym typeface="Ovo"/>
              </a:rPr>
              <a:t>   Camera captures live feed → YOLOv8 detects objects → bounding box size estimates distance (close/medium/far).</a:t>
            </a:r>
          </a:p>
          <a:p>
            <a:pPr marL="511409" lvl="1" indent="-255705" algn="l">
              <a:lnSpc>
                <a:spcPts val="2984"/>
              </a:lnSpc>
              <a:spcBef>
                <a:spcPct val="0"/>
              </a:spcBef>
              <a:buFont typeface="Arial"/>
              <a:buChar char="•"/>
            </a:pPr>
            <a:r>
              <a:rPr lang="en-US" sz="2368" u="none">
                <a:solidFill>
                  <a:srgbClr val="B4B4B4"/>
                </a:solidFill>
                <a:latin typeface="Ovo"/>
                <a:ea typeface="Ovo"/>
                <a:cs typeface="Ovo"/>
                <a:sym typeface="Ovo"/>
              </a:rPr>
              <a:t>Tracking &amp; Movement:</a:t>
            </a:r>
            <a:r>
              <a:rPr lang="en-US" sz="2368" u="none">
                <a:solidFill>
                  <a:srgbClr val="F5F7F7"/>
                </a:solidFill>
                <a:latin typeface="Ovo"/>
                <a:ea typeface="Ovo"/>
                <a:cs typeface="Ovo"/>
                <a:sym typeface="Ovo"/>
              </a:rPr>
              <a:t>  Each object assigned ID → centroid tracked → direction &amp; speed calculated → speech alerts given at intervals.</a:t>
            </a:r>
          </a:p>
          <a:p>
            <a:pPr marL="511409" lvl="1" indent="-255705" algn="l">
              <a:lnSpc>
                <a:spcPts val="2984"/>
              </a:lnSpc>
              <a:spcBef>
                <a:spcPct val="0"/>
              </a:spcBef>
              <a:buFont typeface="Arial"/>
              <a:buChar char="•"/>
            </a:pPr>
            <a:r>
              <a:rPr lang="en-US" sz="2368" u="none">
                <a:solidFill>
                  <a:srgbClr val="B4B4B4"/>
                </a:solidFill>
                <a:latin typeface="Ovo"/>
                <a:ea typeface="Ovo"/>
                <a:cs typeface="Ovo"/>
                <a:sym typeface="Ovo"/>
              </a:rPr>
              <a:t>Text Reading (OCR):</a:t>
            </a:r>
            <a:r>
              <a:rPr lang="en-US" sz="2368" u="none">
                <a:solidFill>
                  <a:srgbClr val="F5F7F7"/>
                </a:solidFill>
                <a:latin typeface="Ovo"/>
                <a:ea typeface="Ovo"/>
                <a:cs typeface="Ovo"/>
                <a:sym typeface="Ovo"/>
              </a:rPr>
              <a:t>   If a book is detected, text is extracted via Pytesseract and spoken aloud.</a:t>
            </a:r>
          </a:p>
          <a:p>
            <a:pPr marL="511409" lvl="1" indent="-255705" algn="l">
              <a:lnSpc>
                <a:spcPts val="2984"/>
              </a:lnSpc>
              <a:spcBef>
                <a:spcPct val="0"/>
              </a:spcBef>
              <a:buFont typeface="Arial"/>
              <a:buChar char="•"/>
            </a:pPr>
            <a:r>
              <a:rPr lang="en-US" sz="2368" u="none">
                <a:solidFill>
                  <a:srgbClr val="B4B4B4"/>
                </a:solidFill>
                <a:latin typeface="Ovo"/>
                <a:ea typeface="Ovo"/>
                <a:cs typeface="Ovo"/>
                <a:sym typeface="Ovo"/>
              </a:rPr>
              <a:t>Speech Output:</a:t>
            </a:r>
            <a:r>
              <a:rPr lang="en-US" sz="2368" u="none">
                <a:solidFill>
                  <a:srgbClr val="F5F7F7"/>
                </a:solidFill>
                <a:latin typeface="Ovo"/>
                <a:ea typeface="Ovo"/>
                <a:cs typeface="Ovo"/>
                <a:sym typeface="Ovo"/>
              </a:rPr>
              <a:t>   Non-blocking TTS thread converts detections into clear real-time audio feedback.</a:t>
            </a:r>
          </a:p>
          <a:p>
            <a:pPr marL="511409" lvl="1" indent="-255705" algn="l">
              <a:lnSpc>
                <a:spcPts val="2984"/>
              </a:lnSpc>
              <a:spcBef>
                <a:spcPct val="0"/>
              </a:spcBef>
              <a:buFont typeface="Arial"/>
              <a:buChar char="•"/>
            </a:pPr>
            <a:r>
              <a:rPr lang="en-US" sz="2368" u="none">
                <a:solidFill>
                  <a:srgbClr val="B4B4B4"/>
                </a:solidFill>
                <a:latin typeface="Ovo"/>
                <a:ea typeface="Ovo"/>
                <a:cs typeface="Ovo"/>
                <a:sym typeface="Ovo"/>
              </a:rPr>
              <a:t>Performance:</a:t>
            </a:r>
            <a:r>
              <a:rPr lang="en-US" sz="2368" u="none">
                <a:solidFill>
                  <a:srgbClr val="F5F7F7"/>
                </a:solidFill>
                <a:latin typeface="Ovo"/>
                <a:ea typeface="Ovo"/>
                <a:cs typeface="Ovo"/>
                <a:sym typeface="Ovo"/>
              </a:rPr>
              <a:t>   Runs ~30 FPS, real-time with visual + speech output.</a:t>
            </a:r>
          </a:p>
          <a:p>
            <a:pPr marL="0" lvl="0" indent="0" algn="l">
              <a:lnSpc>
                <a:spcPts val="2984"/>
              </a:lnSpc>
              <a:spcBef>
                <a:spcPct val="0"/>
              </a:spcBef>
            </a:pPr>
            <a:endParaRPr lang="en-US" sz="2368" u="none">
              <a:solidFill>
                <a:srgbClr val="F5F7F7"/>
              </a:solidFill>
              <a:latin typeface="Ovo"/>
              <a:ea typeface="Ovo"/>
              <a:cs typeface="Ovo"/>
              <a:sym typeface="Ovo"/>
            </a:endParaRPr>
          </a:p>
        </p:txBody>
      </p:sp>
      <p:sp>
        <p:nvSpPr>
          <p:cNvPr id="13" name="TextBox 13"/>
          <p:cNvSpPr txBox="1"/>
          <p:nvPr/>
        </p:nvSpPr>
        <p:spPr>
          <a:xfrm>
            <a:off x="5691485" y="989564"/>
            <a:ext cx="7145174" cy="664456"/>
          </a:xfrm>
          <a:prstGeom prst="rect">
            <a:avLst/>
          </a:prstGeom>
        </p:spPr>
        <p:txBody>
          <a:bodyPr lIns="0" tIns="0" rIns="0" bIns="0" rtlCol="0" anchor="t">
            <a:spAutoFit/>
          </a:bodyPr>
          <a:lstStyle/>
          <a:p>
            <a:pPr marL="0" lvl="0" indent="0" algn="l">
              <a:lnSpc>
                <a:spcPts val="5086"/>
              </a:lnSpc>
              <a:spcBef>
                <a:spcPct val="0"/>
              </a:spcBef>
            </a:pPr>
            <a:r>
              <a:rPr lang="en-US" sz="5036" b="1">
                <a:solidFill>
                  <a:srgbClr val="F5F7F7"/>
                </a:solidFill>
                <a:latin typeface="Garet Bold"/>
                <a:ea typeface="Garet Bold"/>
                <a:cs typeface="Garet Bold"/>
                <a:sym typeface="Garet Bold"/>
              </a:rPr>
              <a:t>IMPLEMENTATION</a:t>
            </a:r>
          </a:p>
        </p:txBody>
      </p:sp>
      <p:sp>
        <p:nvSpPr>
          <p:cNvPr id="14" name="TextBox 14"/>
          <p:cNvSpPr txBox="1"/>
          <p:nvPr/>
        </p:nvSpPr>
        <p:spPr>
          <a:xfrm>
            <a:off x="10034750" y="8210550"/>
            <a:ext cx="6965304" cy="1390650"/>
          </a:xfrm>
          <a:prstGeom prst="rect">
            <a:avLst/>
          </a:prstGeom>
        </p:spPr>
        <p:txBody>
          <a:bodyPr lIns="0" tIns="0" rIns="0" bIns="0" rtlCol="0" anchor="t">
            <a:spAutoFit/>
          </a:bodyPr>
          <a:lstStyle/>
          <a:p>
            <a:pPr algn="ctr">
              <a:lnSpc>
                <a:spcPts val="2759"/>
              </a:lnSpc>
              <a:spcBef>
                <a:spcPct val="0"/>
              </a:spcBef>
            </a:pPr>
            <a:r>
              <a:rPr lang="en-US" sz="2299">
                <a:solidFill>
                  <a:srgbClr val="FFFFFF"/>
                </a:solidFill>
                <a:latin typeface="Ovo"/>
                <a:ea typeface="Ovo"/>
                <a:cs typeface="Ovo"/>
                <a:sym typeface="Ovo"/>
              </a:rPr>
              <a:t>“Samsung Galaxy smartphones with on-device AI acceleration (e.g., Exynos NPU) can run YOLOv8 in real time using Samsung Neural SDK, improving efficiency and reducing latency.”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E2024"/>
        </a:solidFill>
        <a:effectLst/>
      </p:bgPr>
    </p:bg>
    <p:spTree>
      <p:nvGrpSpPr>
        <p:cNvPr id="1" name=""/>
        <p:cNvGrpSpPr/>
        <p:nvPr/>
      </p:nvGrpSpPr>
      <p:grpSpPr>
        <a:xfrm>
          <a:off x="0" y="0"/>
          <a:ext cx="0" cy="0"/>
          <a:chOff x="0" y="0"/>
          <a:chExt cx="0" cy="0"/>
        </a:xfrm>
      </p:grpSpPr>
      <p:grpSp>
        <p:nvGrpSpPr>
          <p:cNvPr id="2" name="Group 2"/>
          <p:cNvGrpSpPr/>
          <p:nvPr/>
        </p:nvGrpSpPr>
        <p:grpSpPr>
          <a:xfrm>
            <a:off x="15869529" y="-529483"/>
            <a:ext cx="3116365" cy="3116365"/>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66675" cap="sq">
              <a:solidFill>
                <a:srgbClr val="FFE953"/>
              </a:solidFill>
              <a:prstDash val="solid"/>
              <a:miter/>
            </a:ln>
          </p:spPr>
        </p:sp>
        <p:sp>
          <p:nvSpPr>
            <p:cNvPr id="4" name="TextBox 4"/>
            <p:cNvSpPr txBox="1"/>
            <p:nvPr/>
          </p:nvSpPr>
          <p:spPr>
            <a:xfrm>
              <a:off x="76200" y="66675"/>
              <a:ext cx="660400" cy="669925"/>
            </a:xfrm>
            <a:prstGeom prst="rect">
              <a:avLst/>
            </a:prstGeom>
          </p:spPr>
          <p:txBody>
            <a:bodyPr lIns="50800" tIns="50800" rIns="50800" bIns="50800" rtlCol="0" anchor="ctr"/>
            <a:lstStyle/>
            <a:p>
              <a:pPr marL="0" lvl="0" indent="0" algn="ctr">
                <a:lnSpc>
                  <a:spcPts val="1919"/>
                </a:lnSpc>
                <a:spcBef>
                  <a:spcPct val="0"/>
                </a:spcBef>
              </a:pPr>
              <a:endParaRPr/>
            </a:p>
          </p:txBody>
        </p:sp>
      </p:grpSp>
      <p:grpSp>
        <p:nvGrpSpPr>
          <p:cNvPr id="5" name="Group 5"/>
          <p:cNvGrpSpPr/>
          <p:nvPr/>
        </p:nvGrpSpPr>
        <p:grpSpPr>
          <a:xfrm>
            <a:off x="161260" y="866568"/>
            <a:ext cx="1315151" cy="131515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66675" cap="sq">
              <a:solidFill>
                <a:srgbClr val="FFE953"/>
              </a:solidFill>
              <a:prstDash val="solid"/>
              <a:miter/>
            </a:ln>
          </p:spPr>
        </p:sp>
        <p:sp>
          <p:nvSpPr>
            <p:cNvPr id="7" name="TextBox 7"/>
            <p:cNvSpPr txBox="1"/>
            <p:nvPr/>
          </p:nvSpPr>
          <p:spPr>
            <a:xfrm>
              <a:off x="76200" y="66675"/>
              <a:ext cx="660400" cy="669925"/>
            </a:xfrm>
            <a:prstGeom prst="rect">
              <a:avLst/>
            </a:prstGeom>
          </p:spPr>
          <p:txBody>
            <a:bodyPr lIns="50800" tIns="50800" rIns="50800" bIns="50800" rtlCol="0" anchor="ctr"/>
            <a:lstStyle/>
            <a:p>
              <a:pPr marL="0" lvl="0" indent="0" algn="ctr">
                <a:lnSpc>
                  <a:spcPts val="1919"/>
                </a:lnSpc>
                <a:spcBef>
                  <a:spcPct val="0"/>
                </a:spcBef>
              </a:pPr>
              <a:endParaRPr/>
            </a:p>
          </p:txBody>
        </p:sp>
      </p:grpSp>
      <p:grpSp>
        <p:nvGrpSpPr>
          <p:cNvPr id="8" name="Group 8"/>
          <p:cNvGrpSpPr/>
          <p:nvPr/>
        </p:nvGrpSpPr>
        <p:grpSpPr>
          <a:xfrm>
            <a:off x="818836" y="9629424"/>
            <a:ext cx="1315151" cy="1315151"/>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EE9E9"/>
            </a:solidFill>
          </p:spPr>
        </p:sp>
        <p:sp>
          <p:nvSpPr>
            <p:cNvPr id="10" name="TextBox 10"/>
            <p:cNvSpPr txBox="1"/>
            <p:nvPr/>
          </p:nvSpPr>
          <p:spPr>
            <a:xfrm>
              <a:off x="76200" y="66675"/>
              <a:ext cx="660400" cy="669925"/>
            </a:xfrm>
            <a:prstGeom prst="rect">
              <a:avLst/>
            </a:prstGeom>
          </p:spPr>
          <p:txBody>
            <a:bodyPr lIns="50800" tIns="50800" rIns="50800" bIns="50800" rtlCol="0" anchor="ctr"/>
            <a:lstStyle/>
            <a:p>
              <a:pPr algn="ctr">
                <a:lnSpc>
                  <a:spcPts val="1919"/>
                </a:lnSpc>
              </a:pPr>
              <a:endParaRPr/>
            </a:p>
          </p:txBody>
        </p:sp>
      </p:grpSp>
      <p:grpSp>
        <p:nvGrpSpPr>
          <p:cNvPr id="11" name="Group 11"/>
          <p:cNvGrpSpPr/>
          <p:nvPr/>
        </p:nvGrpSpPr>
        <p:grpSpPr>
          <a:xfrm>
            <a:off x="1638060" y="8606426"/>
            <a:ext cx="1315151" cy="1315151"/>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EE9E9"/>
            </a:solidFill>
          </p:spPr>
        </p:sp>
        <p:sp>
          <p:nvSpPr>
            <p:cNvPr id="13" name="TextBox 13"/>
            <p:cNvSpPr txBox="1"/>
            <p:nvPr/>
          </p:nvSpPr>
          <p:spPr>
            <a:xfrm>
              <a:off x="76200" y="66675"/>
              <a:ext cx="660400" cy="669925"/>
            </a:xfrm>
            <a:prstGeom prst="rect">
              <a:avLst/>
            </a:prstGeom>
          </p:spPr>
          <p:txBody>
            <a:bodyPr lIns="50800" tIns="50800" rIns="50800" bIns="50800" rtlCol="0" anchor="ctr"/>
            <a:lstStyle/>
            <a:p>
              <a:pPr algn="ctr">
                <a:lnSpc>
                  <a:spcPts val="1919"/>
                </a:lnSpc>
              </a:pPr>
              <a:endParaRPr/>
            </a:p>
          </p:txBody>
        </p:sp>
      </p:grpSp>
      <p:sp>
        <p:nvSpPr>
          <p:cNvPr id="14" name="Freeform 14"/>
          <p:cNvSpPr/>
          <p:nvPr/>
        </p:nvSpPr>
        <p:spPr>
          <a:xfrm>
            <a:off x="3035940" y="244201"/>
            <a:ext cx="12833589" cy="10027344"/>
          </a:xfrm>
          <a:custGeom>
            <a:avLst/>
            <a:gdLst/>
            <a:ahLst/>
            <a:cxnLst/>
            <a:rect l="l" t="t" r="r" b="b"/>
            <a:pathLst>
              <a:path w="12833589" h="10027344">
                <a:moveTo>
                  <a:pt x="0" y="0"/>
                </a:moveTo>
                <a:lnTo>
                  <a:pt x="12833589" y="0"/>
                </a:lnTo>
                <a:lnTo>
                  <a:pt x="12833589" y="10027345"/>
                </a:lnTo>
                <a:lnTo>
                  <a:pt x="0" y="10027345"/>
                </a:lnTo>
                <a:lnTo>
                  <a:pt x="0" y="0"/>
                </a:lnTo>
                <a:close/>
              </a:path>
            </a:pathLst>
          </a:custGeom>
          <a:blipFill>
            <a:blip r:embed="rId2"/>
            <a:stretch>
              <a:fillRect t="-3690" b="-9897"/>
            </a:stretch>
          </a:blipFill>
        </p:spPr>
      </p:sp>
      <p:grpSp>
        <p:nvGrpSpPr>
          <p:cNvPr id="15" name="Group 15"/>
          <p:cNvGrpSpPr/>
          <p:nvPr/>
        </p:nvGrpSpPr>
        <p:grpSpPr>
          <a:xfrm>
            <a:off x="-823511" y="6103818"/>
            <a:ext cx="2630303" cy="2630303"/>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66675" cap="sq">
              <a:solidFill>
                <a:srgbClr val="FFE953"/>
              </a:solidFill>
              <a:prstDash val="solid"/>
              <a:miter/>
            </a:ln>
          </p:spPr>
        </p:sp>
        <p:sp>
          <p:nvSpPr>
            <p:cNvPr id="17" name="TextBox 17"/>
            <p:cNvSpPr txBox="1"/>
            <p:nvPr/>
          </p:nvSpPr>
          <p:spPr>
            <a:xfrm>
              <a:off x="76200" y="66675"/>
              <a:ext cx="660400" cy="669925"/>
            </a:xfrm>
            <a:prstGeom prst="rect">
              <a:avLst/>
            </a:prstGeom>
          </p:spPr>
          <p:txBody>
            <a:bodyPr lIns="50800" tIns="50800" rIns="50800" bIns="50800" rtlCol="0" anchor="ctr"/>
            <a:lstStyle/>
            <a:p>
              <a:pPr marL="0" lvl="0" indent="0" algn="ctr">
                <a:lnSpc>
                  <a:spcPts val="1919"/>
                </a:lnSpc>
                <a:spcBef>
                  <a:spcPct val="0"/>
                </a:spcBef>
              </a:pP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E2024"/>
        </a:solidFill>
        <a:effectLst/>
      </p:bgPr>
    </p:bg>
    <p:spTree>
      <p:nvGrpSpPr>
        <p:cNvPr id="1" name=""/>
        <p:cNvGrpSpPr/>
        <p:nvPr/>
      </p:nvGrpSpPr>
      <p:grpSpPr>
        <a:xfrm>
          <a:off x="0" y="0"/>
          <a:ext cx="0" cy="0"/>
          <a:chOff x="0" y="0"/>
          <a:chExt cx="0" cy="0"/>
        </a:xfrm>
      </p:grpSpPr>
      <p:grpSp>
        <p:nvGrpSpPr>
          <p:cNvPr id="2" name="Group 2"/>
          <p:cNvGrpSpPr/>
          <p:nvPr/>
        </p:nvGrpSpPr>
        <p:grpSpPr>
          <a:xfrm>
            <a:off x="17802738" y="1654020"/>
            <a:ext cx="1315151" cy="131515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66675" cap="sq">
              <a:solidFill>
                <a:srgbClr val="FFE953"/>
              </a:solidFill>
              <a:prstDash val="solid"/>
              <a:miter/>
            </a:ln>
          </p:spPr>
        </p:sp>
        <p:sp>
          <p:nvSpPr>
            <p:cNvPr id="4" name="TextBox 4"/>
            <p:cNvSpPr txBox="1"/>
            <p:nvPr/>
          </p:nvSpPr>
          <p:spPr>
            <a:xfrm>
              <a:off x="76200" y="66675"/>
              <a:ext cx="660400" cy="669925"/>
            </a:xfrm>
            <a:prstGeom prst="rect">
              <a:avLst/>
            </a:prstGeom>
          </p:spPr>
          <p:txBody>
            <a:bodyPr lIns="50800" tIns="50800" rIns="50800" bIns="50800" rtlCol="0" anchor="ctr"/>
            <a:lstStyle/>
            <a:p>
              <a:pPr marL="0" lvl="0" indent="0" algn="ctr">
                <a:lnSpc>
                  <a:spcPts val="1919"/>
                </a:lnSpc>
                <a:spcBef>
                  <a:spcPct val="0"/>
                </a:spcBef>
              </a:pPr>
              <a:endParaRPr/>
            </a:p>
          </p:txBody>
        </p:sp>
      </p:grpSp>
      <p:grpSp>
        <p:nvGrpSpPr>
          <p:cNvPr id="5" name="Group 5"/>
          <p:cNvGrpSpPr/>
          <p:nvPr/>
        </p:nvGrpSpPr>
        <p:grpSpPr>
          <a:xfrm>
            <a:off x="-813906" y="5973347"/>
            <a:ext cx="1315151" cy="131515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66675" cap="sq">
              <a:solidFill>
                <a:srgbClr val="FFE953"/>
              </a:solidFill>
              <a:prstDash val="solid"/>
              <a:miter/>
            </a:ln>
          </p:spPr>
        </p:sp>
        <p:sp>
          <p:nvSpPr>
            <p:cNvPr id="7" name="TextBox 7"/>
            <p:cNvSpPr txBox="1"/>
            <p:nvPr/>
          </p:nvSpPr>
          <p:spPr>
            <a:xfrm>
              <a:off x="76200" y="66675"/>
              <a:ext cx="660400" cy="669925"/>
            </a:xfrm>
            <a:prstGeom prst="rect">
              <a:avLst/>
            </a:prstGeom>
          </p:spPr>
          <p:txBody>
            <a:bodyPr lIns="50800" tIns="50800" rIns="50800" bIns="50800" rtlCol="0" anchor="ctr"/>
            <a:lstStyle/>
            <a:p>
              <a:pPr marL="0" lvl="0" indent="0" algn="ctr">
                <a:lnSpc>
                  <a:spcPts val="1919"/>
                </a:lnSpc>
                <a:spcBef>
                  <a:spcPct val="0"/>
                </a:spcBef>
              </a:pPr>
              <a:endParaRPr/>
            </a:p>
          </p:txBody>
        </p:sp>
      </p:grpSp>
      <p:grpSp>
        <p:nvGrpSpPr>
          <p:cNvPr id="8" name="Group 8"/>
          <p:cNvGrpSpPr/>
          <p:nvPr/>
        </p:nvGrpSpPr>
        <p:grpSpPr>
          <a:xfrm>
            <a:off x="818836" y="9629424"/>
            <a:ext cx="1315151" cy="1315151"/>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EE9E9"/>
            </a:solidFill>
          </p:spPr>
        </p:sp>
        <p:sp>
          <p:nvSpPr>
            <p:cNvPr id="10" name="TextBox 10"/>
            <p:cNvSpPr txBox="1"/>
            <p:nvPr/>
          </p:nvSpPr>
          <p:spPr>
            <a:xfrm>
              <a:off x="76200" y="66675"/>
              <a:ext cx="660400" cy="669925"/>
            </a:xfrm>
            <a:prstGeom prst="rect">
              <a:avLst/>
            </a:prstGeom>
          </p:spPr>
          <p:txBody>
            <a:bodyPr lIns="50800" tIns="50800" rIns="50800" bIns="50800" rtlCol="0" anchor="ctr"/>
            <a:lstStyle/>
            <a:p>
              <a:pPr algn="ctr">
                <a:lnSpc>
                  <a:spcPts val="1919"/>
                </a:lnSpc>
              </a:pPr>
              <a:endParaRPr/>
            </a:p>
          </p:txBody>
        </p:sp>
      </p:grpSp>
      <p:grpSp>
        <p:nvGrpSpPr>
          <p:cNvPr id="11" name="Group 11"/>
          <p:cNvGrpSpPr/>
          <p:nvPr/>
        </p:nvGrpSpPr>
        <p:grpSpPr>
          <a:xfrm>
            <a:off x="1638060" y="8606426"/>
            <a:ext cx="1315151" cy="1315151"/>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EE9E9"/>
            </a:solidFill>
          </p:spPr>
        </p:sp>
        <p:sp>
          <p:nvSpPr>
            <p:cNvPr id="13" name="TextBox 13"/>
            <p:cNvSpPr txBox="1"/>
            <p:nvPr/>
          </p:nvSpPr>
          <p:spPr>
            <a:xfrm>
              <a:off x="76200" y="66675"/>
              <a:ext cx="660400" cy="669925"/>
            </a:xfrm>
            <a:prstGeom prst="rect">
              <a:avLst/>
            </a:prstGeom>
          </p:spPr>
          <p:txBody>
            <a:bodyPr lIns="50800" tIns="50800" rIns="50800" bIns="50800" rtlCol="0" anchor="ctr"/>
            <a:lstStyle/>
            <a:p>
              <a:pPr algn="ctr">
                <a:lnSpc>
                  <a:spcPts val="1919"/>
                </a:lnSpc>
              </a:pPr>
              <a:endParaRPr/>
            </a:p>
          </p:txBody>
        </p:sp>
      </p:grpSp>
      <p:sp>
        <p:nvSpPr>
          <p:cNvPr id="14" name="Freeform 14"/>
          <p:cNvSpPr/>
          <p:nvPr/>
        </p:nvSpPr>
        <p:spPr>
          <a:xfrm>
            <a:off x="0" y="1654020"/>
            <a:ext cx="9144000" cy="5750693"/>
          </a:xfrm>
          <a:custGeom>
            <a:avLst/>
            <a:gdLst/>
            <a:ahLst/>
            <a:cxnLst/>
            <a:rect l="l" t="t" r="r" b="b"/>
            <a:pathLst>
              <a:path w="9144000" h="5750693">
                <a:moveTo>
                  <a:pt x="0" y="0"/>
                </a:moveTo>
                <a:lnTo>
                  <a:pt x="9144000" y="0"/>
                </a:lnTo>
                <a:lnTo>
                  <a:pt x="9144000" y="5750693"/>
                </a:lnTo>
                <a:lnTo>
                  <a:pt x="0" y="5750693"/>
                </a:lnTo>
                <a:lnTo>
                  <a:pt x="0" y="0"/>
                </a:lnTo>
                <a:close/>
              </a:path>
            </a:pathLst>
          </a:custGeom>
          <a:blipFill>
            <a:blip r:embed="rId2"/>
            <a:stretch>
              <a:fillRect r="-11805"/>
            </a:stretch>
          </a:blipFill>
        </p:spPr>
      </p:sp>
      <p:sp>
        <p:nvSpPr>
          <p:cNvPr id="15" name="Freeform 15"/>
          <p:cNvSpPr/>
          <p:nvPr/>
        </p:nvSpPr>
        <p:spPr>
          <a:xfrm>
            <a:off x="9538439" y="4253720"/>
            <a:ext cx="8176834" cy="5667858"/>
          </a:xfrm>
          <a:custGeom>
            <a:avLst/>
            <a:gdLst/>
            <a:ahLst/>
            <a:cxnLst/>
            <a:rect l="l" t="t" r="r" b="b"/>
            <a:pathLst>
              <a:path w="8176834" h="5667858">
                <a:moveTo>
                  <a:pt x="0" y="0"/>
                </a:moveTo>
                <a:lnTo>
                  <a:pt x="8176834" y="0"/>
                </a:lnTo>
                <a:lnTo>
                  <a:pt x="8176834" y="5667858"/>
                </a:lnTo>
                <a:lnTo>
                  <a:pt x="0" y="5667858"/>
                </a:lnTo>
                <a:lnTo>
                  <a:pt x="0" y="0"/>
                </a:lnTo>
                <a:close/>
              </a:path>
            </a:pathLst>
          </a:custGeom>
          <a:blipFill>
            <a:blip r:embed="rId3"/>
            <a:stretch>
              <a:fillRect b="-4593"/>
            </a:stretch>
          </a:blipFill>
        </p:spPr>
      </p:sp>
      <p:sp>
        <p:nvSpPr>
          <p:cNvPr id="16" name="TextBox 16"/>
          <p:cNvSpPr txBox="1"/>
          <p:nvPr/>
        </p:nvSpPr>
        <p:spPr>
          <a:xfrm>
            <a:off x="7214047" y="570533"/>
            <a:ext cx="4648784" cy="664456"/>
          </a:xfrm>
          <a:prstGeom prst="rect">
            <a:avLst/>
          </a:prstGeom>
        </p:spPr>
        <p:txBody>
          <a:bodyPr lIns="0" tIns="0" rIns="0" bIns="0" rtlCol="0" anchor="t">
            <a:spAutoFit/>
          </a:bodyPr>
          <a:lstStyle/>
          <a:p>
            <a:pPr marL="0" lvl="0" indent="0" algn="l">
              <a:lnSpc>
                <a:spcPts val="5086"/>
              </a:lnSpc>
              <a:spcBef>
                <a:spcPct val="0"/>
              </a:spcBef>
            </a:pPr>
            <a:r>
              <a:rPr lang="en-US" sz="5036" b="1">
                <a:solidFill>
                  <a:srgbClr val="F5F7F7"/>
                </a:solidFill>
                <a:latin typeface="Garet Bold"/>
                <a:ea typeface="Garet Bold"/>
                <a:cs typeface="Garet Bold"/>
                <a:sym typeface="Garet Bold"/>
              </a:rPr>
              <a:t>PROTOTYPE</a:t>
            </a:r>
          </a:p>
        </p:txBody>
      </p:sp>
      <p:sp>
        <p:nvSpPr>
          <p:cNvPr id="17" name="TextBox 17"/>
          <p:cNvSpPr txBox="1"/>
          <p:nvPr/>
        </p:nvSpPr>
        <p:spPr>
          <a:xfrm>
            <a:off x="9538439" y="2959646"/>
            <a:ext cx="3025735" cy="457200"/>
          </a:xfrm>
          <a:prstGeom prst="rect">
            <a:avLst/>
          </a:prstGeom>
        </p:spPr>
        <p:txBody>
          <a:bodyPr lIns="0" tIns="0" rIns="0" bIns="0" rtlCol="0" anchor="t">
            <a:spAutoFit/>
          </a:bodyPr>
          <a:lstStyle/>
          <a:p>
            <a:pPr algn="ctr">
              <a:lnSpc>
                <a:spcPts val="3599"/>
              </a:lnSpc>
              <a:spcBef>
                <a:spcPct val="0"/>
              </a:spcBef>
            </a:pPr>
            <a:r>
              <a:rPr lang="en-US" sz="2999">
                <a:solidFill>
                  <a:srgbClr val="F5F7F7"/>
                </a:solidFill>
                <a:latin typeface="Ovo"/>
                <a:ea typeface="Ovo"/>
                <a:cs typeface="Ovo"/>
                <a:sym typeface="Ovo"/>
              </a:rPr>
              <a:t>Image recognition</a:t>
            </a:r>
          </a:p>
        </p:txBody>
      </p:sp>
      <p:sp>
        <p:nvSpPr>
          <p:cNvPr id="18" name="TextBox 18"/>
          <p:cNvSpPr txBox="1"/>
          <p:nvPr/>
        </p:nvSpPr>
        <p:spPr>
          <a:xfrm>
            <a:off x="6427768" y="7814288"/>
            <a:ext cx="2406729" cy="457200"/>
          </a:xfrm>
          <a:prstGeom prst="rect">
            <a:avLst/>
          </a:prstGeom>
        </p:spPr>
        <p:txBody>
          <a:bodyPr lIns="0" tIns="0" rIns="0" bIns="0" rtlCol="0" anchor="t">
            <a:spAutoFit/>
          </a:bodyPr>
          <a:lstStyle/>
          <a:p>
            <a:pPr algn="ctr">
              <a:lnSpc>
                <a:spcPts val="3599"/>
              </a:lnSpc>
              <a:spcBef>
                <a:spcPct val="0"/>
              </a:spcBef>
            </a:pPr>
            <a:r>
              <a:rPr lang="en-US" sz="2999">
                <a:solidFill>
                  <a:srgbClr val="F5F7F7"/>
                </a:solidFill>
                <a:latin typeface="Ovo"/>
                <a:ea typeface="Ovo"/>
                <a:cs typeface="Ovo"/>
                <a:sym typeface="Ovo"/>
              </a:rPr>
              <a:t>Text to speech</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E2024"/>
        </a:solidFill>
        <a:effectLst/>
      </p:bgPr>
    </p:bg>
    <p:spTree>
      <p:nvGrpSpPr>
        <p:cNvPr id="1" name=""/>
        <p:cNvGrpSpPr/>
        <p:nvPr/>
      </p:nvGrpSpPr>
      <p:grpSpPr>
        <a:xfrm>
          <a:off x="0" y="0"/>
          <a:ext cx="0" cy="0"/>
          <a:chOff x="0" y="0"/>
          <a:chExt cx="0" cy="0"/>
        </a:xfrm>
      </p:grpSpPr>
      <p:grpSp>
        <p:nvGrpSpPr>
          <p:cNvPr id="2" name="Group 2"/>
          <p:cNvGrpSpPr/>
          <p:nvPr/>
        </p:nvGrpSpPr>
        <p:grpSpPr>
          <a:xfrm>
            <a:off x="17802738" y="1654020"/>
            <a:ext cx="1315151" cy="131515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66675" cap="sq">
              <a:solidFill>
                <a:srgbClr val="FFE953"/>
              </a:solidFill>
              <a:prstDash val="solid"/>
              <a:miter/>
            </a:ln>
          </p:spPr>
        </p:sp>
        <p:sp>
          <p:nvSpPr>
            <p:cNvPr id="4" name="TextBox 4"/>
            <p:cNvSpPr txBox="1"/>
            <p:nvPr/>
          </p:nvSpPr>
          <p:spPr>
            <a:xfrm>
              <a:off x="76200" y="66675"/>
              <a:ext cx="660400" cy="669925"/>
            </a:xfrm>
            <a:prstGeom prst="rect">
              <a:avLst/>
            </a:prstGeom>
          </p:spPr>
          <p:txBody>
            <a:bodyPr lIns="50800" tIns="50800" rIns="50800" bIns="50800" rtlCol="0" anchor="ctr"/>
            <a:lstStyle/>
            <a:p>
              <a:pPr marL="0" lvl="0" indent="0" algn="ctr">
                <a:lnSpc>
                  <a:spcPts val="1919"/>
                </a:lnSpc>
                <a:spcBef>
                  <a:spcPct val="0"/>
                </a:spcBef>
              </a:pPr>
              <a:endParaRPr/>
            </a:p>
          </p:txBody>
        </p:sp>
      </p:grpSp>
      <p:grpSp>
        <p:nvGrpSpPr>
          <p:cNvPr id="5" name="Group 5"/>
          <p:cNvGrpSpPr/>
          <p:nvPr/>
        </p:nvGrpSpPr>
        <p:grpSpPr>
          <a:xfrm>
            <a:off x="-813906" y="5973347"/>
            <a:ext cx="1315151" cy="131515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66675" cap="sq">
              <a:solidFill>
                <a:srgbClr val="FFE953"/>
              </a:solidFill>
              <a:prstDash val="solid"/>
              <a:miter/>
            </a:ln>
          </p:spPr>
        </p:sp>
        <p:sp>
          <p:nvSpPr>
            <p:cNvPr id="7" name="TextBox 7"/>
            <p:cNvSpPr txBox="1"/>
            <p:nvPr/>
          </p:nvSpPr>
          <p:spPr>
            <a:xfrm>
              <a:off x="76200" y="66675"/>
              <a:ext cx="660400" cy="669925"/>
            </a:xfrm>
            <a:prstGeom prst="rect">
              <a:avLst/>
            </a:prstGeom>
          </p:spPr>
          <p:txBody>
            <a:bodyPr lIns="50800" tIns="50800" rIns="50800" bIns="50800" rtlCol="0" anchor="ctr"/>
            <a:lstStyle/>
            <a:p>
              <a:pPr marL="0" lvl="0" indent="0" algn="ctr">
                <a:lnSpc>
                  <a:spcPts val="1919"/>
                </a:lnSpc>
                <a:spcBef>
                  <a:spcPct val="0"/>
                </a:spcBef>
              </a:pPr>
              <a:endParaRPr/>
            </a:p>
          </p:txBody>
        </p:sp>
      </p:grpSp>
      <p:grpSp>
        <p:nvGrpSpPr>
          <p:cNvPr id="8" name="Group 8"/>
          <p:cNvGrpSpPr/>
          <p:nvPr/>
        </p:nvGrpSpPr>
        <p:grpSpPr>
          <a:xfrm>
            <a:off x="818836" y="9629424"/>
            <a:ext cx="1315151" cy="1315151"/>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EE9E9"/>
            </a:solidFill>
          </p:spPr>
        </p:sp>
        <p:sp>
          <p:nvSpPr>
            <p:cNvPr id="10" name="TextBox 10"/>
            <p:cNvSpPr txBox="1"/>
            <p:nvPr/>
          </p:nvSpPr>
          <p:spPr>
            <a:xfrm>
              <a:off x="76200" y="66675"/>
              <a:ext cx="660400" cy="669925"/>
            </a:xfrm>
            <a:prstGeom prst="rect">
              <a:avLst/>
            </a:prstGeom>
          </p:spPr>
          <p:txBody>
            <a:bodyPr lIns="50800" tIns="50800" rIns="50800" bIns="50800" rtlCol="0" anchor="ctr"/>
            <a:lstStyle/>
            <a:p>
              <a:pPr algn="ctr">
                <a:lnSpc>
                  <a:spcPts val="1919"/>
                </a:lnSpc>
              </a:pPr>
              <a:endParaRPr/>
            </a:p>
          </p:txBody>
        </p:sp>
      </p:grpSp>
      <p:grpSp>
        <p:nvGrpSpPr>
          <p:cNvPr id="11" name="Group 11"/>
          <p:cNvGrpSpPr/>
          <p:nvPr/>
        </p:nvGrpSpPr>
        <p:grpSpPr>
          <a:xfrm>
            <a:off x="1476412" y="9629424"/>
            <a:ext cx="1315151" cy="1315151"/>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EE9E9"/>
            </a:solidFill>
          </p:spPr>
        </p:sp>
        <p:sp>
          <p:nvSpPr>
            <p:cNvPr id="13" name="TextBox 13"/>
            <p:cNvSpPr txBox="1"/>
            <p:nvPr/>
          </p:nvSpPr>
          <p:spPr>
            <a:xfrm>
              <a:off x="76200" y="66675"/>
              <a:ext cx="660400" cy="669925"/>
            </a:xfrm>
            <a:prstGeom prst="rect">
              <a:avLst/>
            </a:prstGeom>
          </p:spPr>
          <p:txBody>
            <a:bodyPr lIns="50800" tIns="50800" rIns="50800" bIns="50800" rtlCol="0" anchor="ctr"/>
            <a:lstStyle/>
            <a:p>
              <a:pPr algn="ctr">
                <a:lnSpc>
                  <a:spcPts val="1919"/>
                </a:lnSpc>
              </a:pPr>
              <a:endParaRPr/>
            </a:p>
          </p:txBody>
        </p:sp>
      </p:grpSp>
      <p:sp>
        <p:nvSpPr>
          <p:cNvPr id="14" name="Freeform 14"/>
          <p:cNvSpPr/>
          <p:nvPr/>
        </p:nvSpPr>
        <p:spPr>
          <a:xfrm>
            <a:off x="1250602" y="3959127"/>
            <a:ext cx="6887909" cy="5103198"/>
          </a:xfrm>
          <a:custGeom>
            <a:avLst/>
            <a:gdLst/>
            <a:ahLst/>
            <a:cxnLst/>
            <a:rect l="l" t="t" r="r" b="b"/>
            <a:pathLst>
              <a:path w="6887909" h="5103198">
                <a:moveTo>
                  <a:pt x="0" y="0"/>
                </a:moveTo>
                <a:lnTo>
                  <a:pt x="6887909" y="0"/>
                </a:lnTo>
                <a:lnTo>
                  <a:pt x="6887909" y="5103198"/>
                </a:lnTo>
                <a:lnTo>
                  <a:pt x="0" y="5103198"/>
                </a:lnTo>
                <a:lnTo>
                  <a:pt x="0" y="0"/>
                </a:lnTo>
                <a:close/>
              </a:path>
            </a:pathLst>
          </a:custGeom>
          <a:blipFill>
            <a:blip r:embed="rId2"/>
            <a:stretch>
              <a:fillRect t="-7147" b="-7828"/>
            </a:stretch>
          </a:blipFill>
        </p:spPr>
      </p:sp>
      <p:sp>
        <p:nvSpPr>
          <p:cNvPr id="15" name="Freeform 15"/>
          <p:cNvSpPr/>
          <p:nvPr/>
        </p:nvSpPr>
        <p:spPr>
          <a:xfrm>
            <a:off x="8651967" y="4117784"/>
            <a:ext cx="8444353" cy="5773363"/>
          </a:xfrm>
          <a:custGeom>
            <a:avLst/>
            <a:gdLst/>
            <a:ahLst/>
            <a:cxnLst/>
            <a:rect l="l" t="t" r="r" b="b"/>
            <a:pathLst>
              <a:path w="8444353" h="5773363">
                <a:moveTo>
                  <a:pt x="0" y="0"/>
                </a:moveTo>
                <a:lnTo>
                  <a:pt x="8444353" y="0"/>
                </a:lnTo>
                <a:lnTo>
                  <a:pt x="8444353" y="5773362"/>
                </a:lnTo>
                <a:lnTo>
                  <a:pt x="0" y="5773362"/>
                </a:lnTo>
                <a:lnTo>
                  <a:pt x="0" y="0"/>
                </a:lnTo>
                <a:close/>
              </a:path>
            </a:pathLst>
          </a:custGeom>
          <a:blipFill>
            <a:blip r:embed="rId3"/>
            <a:stretch>
              <a:fillRect t="-7555" b="-7627"/>
            </a:stretch>
          </a:blipFill>
        </p:spPr>
      </p:sp>
      <p:sp>
        <p:nvSpPr>
          <p:cNvPr id="16" name="TextBox 16"/>
          <p:cNvSpPr txBox="1"/>
          <p:nvPr/>
        </p:nvSpPr>
        <p:spPr>
          <a:xfrm>
            <a:off x="1701419" y="3423901"/>
            <a:ext cx="2993137" cy="365881"/>
          </a:xfrm>
          <a:prstGeom prst="rect">
            <a:avLst/>
          </a:prstGeom>
        </p:spPr>
        <p:txBody>
          <a:bodyPr lIns="0" tIns="0" rIns="0" bIns="0" rtlCol="0" anchor="t">
            <a:spAutoFit/>
          </a:bodyPr>
          <a:lstStyle/>
          <a:p>
            <a:pPr marL="506673" lvl="1" indent="-253337" algn="l">
              <a:lnSpc>
                <a:spcPts val="2956"/>
              </a:lnSpc>
              <a:spcBef>
                <a:spcPct val="0"/>
              </a:spcBef>
              <a:buAutoNum type="arabicPeriod"/>
            </a:pPr>
            <a:r>
              <a:rPr lang="en-US" sz="2346">
                <a:solidFill>
                  <a:srgbClr val="F5F7F7"/>
                </a:solidFill>
                <a:latin typeface="Ovo"/>
                <a:ea typeface="Ovo"/>
                <a:cs typeface="Ovo"/>
                <a:sym typeface="Ovo"/>
              </a:rPr>
              <a:t> V</a:t>
            </a:r>
            <a:r>
              <a:rPr lang="en-US" sz="2346" u="none">
                <a:solidFill>
                  <a:srgbClr val="F5F7F7"/>
                </a:solidFill>
                <a:latin typeface="Ovo"/>
                <a:ea typeface="Ovo"/>
                <a:cs typeface="Ovo"/>
                <a:sym typeface="Ovo"/>
              </a:rPr>
              <a:t>alue Proposition</a:t>
            </a:r>
          </a:p>
        </p:txBody>
      </p:sp>
      <p:sp>
        <p:nvSpPr>
          <p:cNvPr id="17" name="TextBox 17"/>
          <p:cNvSpPr txBox="1"/>
          <p:nvPr/>
        </p:nvSpPr>
        <p:spPr>
          <a:xfrm>
            <a:off x="1476412" y="744097"/>
            <a:ext cx="5986274" cy="664456"/>
          </a:xfrm>
          <a:prstGeom prst="rect">
            <a:avLst/>
          </a:prstGeom>
        </p:spPr>
        <p:txBody>
          <a:bodyPr lIns="0" tIns="0" rIns="0" bIns="0" rtlCol="0" anchor="t">
            <a:spAutoFit/>
          </a:bodyPr>
          <a:lstStyle/>
          <a:p>
            <a:pPr marL="0" lvl="0" indent="0" algn="l">
              <a:lnSpc>
                <a:spcPts val="5086"/>
              </a:lnSpc>
              <a:spcBef>
                <a:spcPct val="0"/>
              </a:spcBef>
            </a:pPr>
            <a:r>
              <a:rPr lang="en-US" sz="5036" b="1">
                <a:solidFill>
                  <a:srgbClr val="F5F7F7"/>
                </a:solidFill>
                <a:latin typeface="Garet Bold"/>
                <a:ea typeface="Garet Bold"/>
                <a:cs typeface="Garet Bold"/>
                <a:sym typeface="Garet Bold"/>
              </a:rPr>
              <a:t>BUSINESS MODEL</a:t>
            </a:r>
          </a:p>
        </p:txBody>
      </p:sp>
      <p:sp>
        <p:nvSpPr>
          <p:cNvPr id="18" name="TextBox 18"/>
          <p:cNvSpPr txBox="1"/>
          <p:nvPr/>
        </p:nvSpPr>
        <p:spPr>
          <a:xfrm>
            <a:off x="9144000" y="3423901"/>
            <a:ext cx="2993137" cy="365881"/>
          </a:xfrm>
          <a:prstGeom prst="rect">
            <a:avLst/>
          </a:prstGeom>
        </p:spPr>
        <p:txBody>
          <a:bodyPr lIns="0" tIns="0" rIns="0" bIns="0" rtlCol="0" anchor="t">
            <a:spAutoFit/>
          </a:bodyPr>
          <a:lstStyle/>
          <a:p>
            <a:pPr algn="l">
              <a:lnSpc>
                <a:spcPts val="2956"/>
              </a:lnSpc>
              <a:spcBef>
                <a:spcPct val="0"/>
              </a:spcBef>
            </a:pPr>
            <a:r>
              <a:rPr lang="en-US" sz="2346">
                <a:solidFill>
                  <a:srgbClr val="F5F7F7"/>
                </a:solidFill>
                <a:latin typeface="Ovo"/>
                <a:ea typeface="Ovo"/>
                <a:cs typeface="Ovo"/>
                <a:sym typeface="Ovo"/>
              </a:rPr>
              <a:t>2. C</a:t>
            </a:r>
            <a:r>
              <a:rPr lang="en-US" sz="2346" u="none">
                <a:solidFill>
                  <a:srgbClr val="F5F7F7"/>
                </a:solidFill>
                <a:latin typeface="Ovo"/>
                <a:ea typeface="Ovo"/>
                <a:cs typeface="Ovo"/>
                <a:sym typeface="Ovo"/>
              </a:rPr>
              <a:t>ustomer Segments</a:t>
            </a:r>
          </a:p>
        </p:txBody>
      </p:sp>
      <p:sp>
        <p:nvSpPr>
          <p:cNvPr id="19" name="TextBox 19"/>
          <p:cNvSpPr txBox="1"/>
          <p:nvPr/>
        </p:nvSpPr>
        <p:spPr>
          <a:xfrm>
            <a:off x="-156330" y="2082852"/>
            <a:ext cx="18288000" cy="676275"/>
          </a:xfrm>
          <a:prstGeom prst="rect">
            <a:avLst/>
          </a:prstGeom>
        </p:spPr>
        <p:txBody>
          <a:bodyPr lIns="0" tIns="0" rIns="0" bIns="0" rtlCol="0" anchor="t">
            <a:spAutoFit/>
          </a:bodyPr>
          <a:lstStyle/>
          <a:p>
            <a:pPr algn="ctr">
              <a:lnSpc>
                <a:spcPts val="2639"/>
              </a:lnSpc>
              <a:spcBef>
                <a:spcPct val="0"/>
              </a:spcBef>
            </a:pPr>
            <a:r>
              <a:rPr lang="en-US" sz="2199">
                <a:solidFill>
                  <a:srgbClr val="F5F7F7"/>
                </a:solidFill>
                <a:latin typeface="Ovo"/>
                <a:ea typeface="Ovo"/>
                <a:cs typeface="Ovo"/>
                <a:sym typeface="Ovo"/>
              </a:rPr>
              <a:t>“Can be deployed as a Samsung accessibility feature or SmartThings companion app, expanding Samsung’s inclusive technology offerings for differently-abled users.”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E2024"/>
        </a:solidFill>
        <a:effectLst/>
      </p:bgPr>
    </p:bg>
    <p:spTree>
      <p:nvGrpSpPr>
        <p:cNvPr id="1" name=""/>
        <p:cNvGrpSpPr/>
        <p:nvPr/>
      </p:nvGrpSpPr>
      <p:grpSpPr>
        <a:xfrm>
          <a:off x="0" y="0"/>
          <a:ext cx="0" cy="0"/>
          <a:chOff x="0" y="0"/>
          <a:chExt cx="0" cy="0"/>
        </a:xfrm>
      </p:grpSpPr>
      <p:grpSp>
        <p:nvGrpSpPr>
          <p:cNvPr id="2" name="Group 2"/>
          <p:cNvGrpSpPr/>
          <p:nvPr/>
        </p:nvGrpSpPr>
        <p:grpSpPr>
          <a:xfrm>
            <a:off x="17802738" y="1654020"/>
            <a:ext cx="1315151" cy="131515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66675" cap="sq">
              <a:solidFill>
                <a:srgbClr val="FFE953"/>
              </a:solidFill>
              <a:prstDash val="solid"/>
              <a:miter/>
            </a:ln>
          </p:spPr>
        </p:sp>
        <p:sp>
          <p:nvSpPr>
            <p:cNvPr id="4" name="TextBox 4"/>
            <p:cNvSpPr txBox="1"/>
            <p:nvPr/>
          </p:nvSpPr>
          <p:spPr>
            <a:xfrm>
              <a:off x="76200" y="66675"/>
              <a:ext cx="660400" cy="669925"/>
            </a:xfrm>
            <a:prstGeom prst="rect">
              <a:avLst/>
            </a:prstGeom>
          </p:spPr>
          <p:txBody>
            <a:bodyPr lIns="50800" tIns="50800" rIns="50800" bIns="50800" rtlCol="0" anchor="ctr"/>
            <a:lstStyle/>
            <a:p>
              <a:pPr marL="0" lvl="0" indent="0" algn="ctr">
                <a:lnSpc>
                  <a:spcPts val="1919"/>
                </a:lnSpc>
                <a:spcBef>
                  <a:spcPct val="0"/>
                </a:spcBef>
              </a:pPr>
              <a:endParaRPr/>
            </a:p>
          </p:txBody>
        </p:sp>
      </p:grpSp>
      <p:grpSp>
        <p:nvGrpSpPr>
          <p:cNvPr id="5" name="Group 5"/>
          <p:cNvGrpSpPr/>
          <p:nvPr/>
        </p:nvGrpSpPr>
        <p:grpSpPr>
          <a:xfrm>
            <a:off x="-813906" y="5973347"/>
            <a:ext cx="1315151" cy="131515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66675" cap="sq">
              <a:solidFill>
                <a:srgbClr val="FFE953"/>
              </a:solidFill>
              <a:prstDash val="solid"/>
              <a:miter/>
            </a:ln>
          </p:spPr>
        </p:sp>
        <p:sp>
          <p:nvSpPr>
            <p:cNvPr id="7" name="TextBox 7"/>
            <p:cNvSpPr txBox="1"/>
            <p:nvPr/>
          </p:nvSpPr>
          <p:spPr>
            <a:xfrm>
              <a:off x="76200" y="66675"/>
              <a:ext cx="660400" cy="669925"/>
            </a:xfrm>
            <a:prstGeom prst="rect">
              <a:avLst/>
            </a:prstGeom>
          </p:spPr>
          <p:txBody>
            <a:bodyPr lIns="50800" tIns="50800" rIns="50800" bIns="50800" rtlCol="0" anchor="ctr"/>
            <a:lstStyle/>
            <a:p>
              <a:pPr marL="0" lvl="0" indent="0" algn="ctr">
                <a:lnSpc>
                  <a:spcPts val="1919"/>
                </a:lnSpc>
                <a:spcBef>
                  <a:spcPct val="0"/>
                </a:spcBef>
              </a:pPr>
              <a:endParaRPr/>
            </a:p>
          </p:txBody>
        </p:sp>
      </p:grpSp>
      <p:grpSp>
        <p:nvGrpSpPr>
          <p:cNvPr id="8" name="Group 8"/>
          <p:cNvGrpSpPr/>
          <p:nvPr/>
        </p:nvGrpSpPr>
        <p:grpSpPr>
          <a:xfrm>
            <a:off x="818836" y="9629424"/>
            <a:ext cx="1315151" cy="1315151"/>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EE9E9"/>
            </a:solidFill>
          </p:spPr>
        </p:sp>
        <p:sp>
          <p:nvSpPr>
            <p:cNvPr id="10" name="TextBox 10"/>
            <p:cNvSpPr txBox="1"/>
            <p:nvPr/>
          </p:nvSpPr>
          <p:spPr>
            <a:xfrm>
              <a:off x="76200" y="66675"/>
              <a:ext cx="660400" cy="669925"/>
            </a:xfrm>
            <a:prstGeom prst="rect">
              <a:avLst/>
            </a:prstGeom>
          </p:spPr>
          <p:txBody>
            <a:bodyPr lIns="50800" tIns="50800" rIns="50800" bIns="50800" rtlCol="0" anchor="ctr"/>
            <a:lstStyle/>
            <a:p>
              <a:pPr algn="ctr">
                <a:lnSpc>
                  <a:spcPts val="1919"/>
                </a:lnSpc>
              </a:pPr>
              <a:endParaRPr/>
            </a:p>
          </p:txBody>
        </p:sp>
      </p:grpSp>
      <p:grpSp>
        <p:nvGrpSpPr>
          <p:cNvPr id="11" name="Group 11"/>
          <p:cNvGrpSpPr/>
          <p:nvPr/>
        </p:nvGrpSpPr>
        <p:grpSpPr>
          <a:xfrm>
            <a:off x="1638060" y="8606426"/>
            <a:ext cx="1315151" cy="1315151"/>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EE9E9"/>
            </a:solidFill>
          </p:spPr>
        </p:sp>
        <p:sp>
          <p:nvSpPr>
            <p:cNvPr id="13" name="TextBox 13"/>
            <p:cNvSpPr txBox="1"/>
            <p:nvPr/>
          </p:nvSpPr>
          <p:spPr>
            <a:xfrm>
              <a:off x="76200" y="66675"/>
              <a:ext cx="660400" cy="669925"/>
            </a:xfrm>
            <a:prstGeom prst="rect">
              <a:avLst/>
            </a:prstGeom>
          </p:spPr>
          <p:txBody>
            <a:bodyPr lIns="50800" tIns="50800" rIns="50800" bIns="50800" rtlCol="0" anchor="ctr"/>
            <a:lstStyle/>
            <a:p>
              <a:pPr algn="ctr">
                <a:lnSpc>
                  <a:spcPts val="1919"/>
                </a:lnSpc>
              </a:pPr>
              <a:endParaRPr/>
            </a:p>
          </p:txBody>
        </p:sp>
      </p:grpSp>
      <p:sp>
        <p:nvSpPr>
          <p:cNvPr id="14" name="Freeform 14"/>
          <p:cNvSpPr/>
          <p:nvPr/>
        </p:nvSpPr>
        <p:spPr>
          <a:xfrm>
            <a:off x="4904589" y="996245"/>
            <a:ext cx="11301259" cy="4630270"/>
          </a:xfrm>
          <a:custGeom>
            <a:avLst/>
            <a:gdLst/>
            <a:ahLst/>
            <a:cxnLst/>
            <a:rect l="l" t="t" r="r" b="b"/>
            <a:pathLst>
              <a:path w="11301259" h="4630270">
                <a:moveTo>
                  <a:pt x="0" y="0"/>
                </a:moveTo>
                <a:lnTo>
                  <a:pt x="11301259" y="0"/>
                </a:lnTo>
                <a:lnTo>
                  <a:pt x="11301259" y="4630271"/>
                </a:lnTo>
                <a:lnTo>
                  <a:pt x="0" y="4630271"/>
                </a:lnTo>
                <a:lnTo>
                  <a:pt x="0" y="0"/>
                </a:lnTo>
                <a:close/>
              </a:path>
            </a:pathLst>
          </a:custGeom>
          <a:blipFill>
            <a:blip r:embed="rId2"/>
            <a:stretch>
              <a:fillRect t="-10128" b="-11602"/>
            </a:stretch>
          </a:blipFill>
        </p:spPr>
      </p:sp>
      <p:sp>
        <p:nvSpPr>
          <p:cNvPr id="15" name="Freeform 15"/>
          <p:cNvSpPr/>
          <p:nvPr/>
        </p:nvSpPr>
        <p:spPr>
          <a:xfrm>
            <a:off x="5954732" y="5626516"/>
            <a:ext cx="9200973" cy="4534708"/>
          </a:xfrm>
          <a:custGeom>
            <a:avLst/>
            <a:gdLst/>
            <a:ahLst/>
            <a:cxnLst/>
            <a:rect l="l" t="t" r="r" b="b"/>
            <a:pathLst>
              <a:path w="9200973" h="4534708">
                <a:moveTo>
                  <a:pt x="0" y="0"/>
                </a:moveTo>
                <a:lnTo>
                  <a:pt x="9200973" y="0"/>
                </a:lnTo>
                <a:lnTo>
                  <a:pt x="9200973" y="4534708"/>
                </a:lnTo>
                <a:lnTo>
                  <a:pt x="0" y="4534708"/>
                </a:lnTo>
                <a:lnTo>
                  <a:pt x="0" y="0"/>
                </a:lnTo>
                <a:close/>
              </a:path>
            </a:pathLst>
          </a:custGeom>
          <a:blipFill>
            <a:blip r:embed="rId3"/>
            <a:stretch>
              <a:fillRect t="-7660" b="-19152"/>
            </a:stretch>
          </a:blipFill>
        </p:spPr>
      </p:sp>
      <p:sp>
        <p:nvSpPr>
          <p:cNvPr id="16" name="TextBox 16"/>
          <p:cNvSpPr txBox="1"/>
          <p:nvPr/>
        </p:nvSpPr>
        <p:spPr>
          <a:xfrm>
            <a:off x="1476412" y="1288139"/>
            <a:ext cx="2993137" cy="365881"/>
          </a:xfrm>
          <a:prstGeom prst="rect">
            <a:avLst/>
          </a:prstGeom>
        </p:spPr>
        <p:txBody>
          <a:bodyPr lIns="0" tIns="0" rIns="0" bIns="0" rtlCol="0" anchor="t">
            <a:spAutoFit/>
          </a:bodyPr>
          <a:lstStyle/>
          <a:p>
            <a:pPr algn="l">
              <a:lnSpc>
                <a:spcPts val="2956"/>
              </a:lnSpc>
              <a:spcBef>
                <a:spcPct val="0"/>
              </a:spcBef>
            </a:pPr>
            <a:r>
              <a:rPr lang="en-US" sz="2346">
                <a:solidFill>
                  <a:srgbClr val="F5F7F7"/>
                </a:solidFill>
                <a:latin typeface="Ovo"/>
                <a:ea typeface="Ovo"/>
                <a:cs typeface="Ovo"/>
                <a:sym typeface="Ovo"/>
              </a:rPr>
              <a:t>3. Revenue Streams</a:t>
            </a:r>
          </a:p>
        </p:txBody>
      </p:sp>
      <p:sp>
        <p:nvSpPr>
          <p:cNvPr id="17" name="TextBox 17"/>
          <p:cNvSpPr txBox="1"/>
          <p:nvPr/>
        </p:nvSpPr>
        <p:spPr>
          <a:xfrm>
            <a:off x="1476412" y="5900328"/>
            <a:ext cx="4478320" cy="730595"/>
          </a:xfrm>
          <a:prstGeom prst="rect">
            <a:avLst/>
          </a:prstGeom>
        </p:spPr>
        <p:txBody>
          <a:bodyPr lIns="0" tIns="0" rIns="0" bIns="0" rtlCol="0" anchor="t">
            <a:spAutoFit/>
          </a:bodyPr>
          <a:lstStyle/>
          <a:p>
            <a:pPr algn="l">
              <a:lnSpc>
                <a:spcPts val="2956"/>
              </a:lnSpc>
            </a:pPr>
            <a:r>
              <a:rPr lang="en-US" sz="2346">
                <a:solidFill>
                  <a:srgbClr val="F5F7F7"/>
                </a:solidFill>
                <a:latin typeface="Ovo"/>
                <a:ea typeface="Ovo"/>
                <a:cs typeface="Ovo"/>
                <a:sym typeface="Ovo"/>
              </a:rPr>
              <a:t>4. Key Resources (Cost Estimates)</a:t>
            </a:r>
          </a:p>
          <a:p>
            <a:pPr algn="l">
              <a:lnSpc>
                <a:spcPts val="2956"/>
              </a:lnSpc>
              <a:spcBef>
                <a:spcPct val="0"/>
              </a:spcBef>
            </a:pPr>
            <a:endParaRPr lang="en-US" sz="2346">
              <a:solidFill>
                <a:srgbClr val="F5F7F7"/>
              </a:solidFill>
              <a:latin typeface="Ovo"/>
              <a:ea typeface="Ovo"/>
              <a:cs typeface="Ovo"/>
              <a:sym typeface="Ov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E2024"/>
        </a:solidFill>
        <a:effectLst/>
      </p:bgPr>
    </p:bg>
    <p:spTree>
      <p:nvGrpSpPr>
        <p:cNvPr id="1" name=""/>
        <p:cNvGrpSpPr/>
        <p:nvPr/>
      </p:nvGrpSpPr>
      <p:grpSpPr>
        <a:xfrm>
          <a:off x="0" y="0"/>
          <a:ext cx="0" cy="0"/>
          <a:chOff x="0" y="0"/>
          <a:chExt cx="0" cy="0"/>
        </a:xfrm>
      </p:grpSpPr>
      <p:grpSp>
        <p:nvGrpSpPr>
          <p:cNvPr id="2" name="Group 2"/>
          <p:cNvGrpSpPr/>
          <p:nvPr/>
        </p:nvGrpSpPr>
        <p:grpSpPr>
          <a:xfrm>
            <a:off x="17802738" y="1654020"/>
            <a:ext cx="1315151" cy="131515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66675" cap="sq">
              <a:solidFill>
                <a:srgbClr val="FFE953"/>
              </a:solidFill>
              <a:prstDash val="solid"/>
              <a:miter/>
            </a:ln>
          </p:spPr>
        </p:sp>
        <p:sp>
          <p:nvSpPr>
            <p:cNvPr id="4" name="TextBox 4"/>
            <p:cNvSpPr txBox="1"/>
            <p:nvPr/>
          </p:nvSpPr>
          <p:spPr>
            <a:xfrm>
              <a:off x="76200" y="66675"/>
              <a:ext cx="660400" cy="669925"/>
            </a:xfrm>
            <a:prstGeom prst="rect">
              <a:avLst/>
            </a:prstGeom>
          </p:spPr>
          <p:txBody>
            <a:bodyPr lIns="50800" tIns="50800" rIns="50800" bIns="50800" rtlCol="0" anchor="ctr"/>
            <a:lstStyle/>
            <a:p>
              <a:pPr marL="0" lvl="0" indent="0" algn="ctr">
                <a:lnSpc>
                  <a:spcPts val="1919"/>
                </a:lnSpc>
                <a:spcBef>
                  <a:spcPct val="0"/>
                </a:spcBef>
              </a:pPr>
              <a:endParaRPr/>
            </a:p>
          </p:txBody>
        </p:sp>
      </p:grpSp>
      <p:grpSp>
        <p:nvGrpSpPr>
          <p:cNvPr id="5" name="Group 5"/>
          <p:cNvGrpSpPr/>
          <p:nvPr/>
        </p:nvGrpSpPr>
        <p:grpSpPr>
          <a:xfrm>
            <a:off x="-813906" y="5973347"/>
            <a:ext cx="1315151" cy="131515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66675" cap="sq">
              <a:solidFill>
                <a:srgbClr val="FFE953"/>
              </a:solidFill>
              <a:prstDash val="solid"/>
              <a:miter/>
            </a:ln>
          </p:spPr>
        </p:sp>
        <p:sp>
          <p:nvSpPr>
            <p:cNvPr id="7" name="TextBox 7"/>
            <p:cNvSpPr txBox="1"/>
            <p:nvPr/>
          </p:nvSpPr>
          <p:spPr>
            <a:xfrm>
              <a:off x="76200" y="66675"/>
              <a:ext cx="660400" cy="669925"/>
            </a:xfrm>
            <a:prstGeom prst="rect">
              <a:avLst/>
            </a:prstGeom>
          </p:spPr>
          <p:txBody>
            <a:bodyPr lIns="50800" tIns="50800" rIns="50800" bIns="50800" rtlCol="0" anchor="ctr"/>
            <a:lstStyle/>
            <a:p>
              <a:pPr marL="0" lvl="0" indent="0" algn="ctr">
                <a:lnSpc>
                  <a:spcPts val="1919"/>
                </a:lnSpc>
                <a:spcBef>
                  <a:spcPct val="0"/>
                </a:spcBef>
              </a:pPr>
              <a:endParaRPr/>
            </a:p>
          </p:txBody>
        </p:sp>
      </p:grpSp>
      <p:grpSp>
        <p:nvGrpSpPr>
          <p:cNvPr id="8" name="Group 8"/>
          <p:cNvGrpSpPr/>
          <p:nvPr/>
        </p:nvGrpSpPr>
        <p:grpSpPr>
          <a:xfrm>
            <a:off x="818836" y="9629424"/>
            <a:ext cx="1315151" cy="1315151"/>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EE9E9"/>
            </a:solidFill>
          </p:spPr>
        </p:sp>
        <p:sp>
          <p:nvSpPr>
            <p:cNvPr id="10" name="TextBox 10"/>
            <p:cNvSpPr txBox="1"/>
            <p:nvPr/>
          </p:nvSpPr>
          <p:spPr>
            <a:xfrm>
              <a:off x="76200" y="66675"/>
              <a:ext cx="660400" cy="669925"/>
            </a:xfrm>
            <a:prstGeom prst="rect">
              <a:avLst/>
            </a:prstGeom>
          </p:spPr>
          <p:txBody>
            <a:bodyPr lIns="50800" tIns="50800" rIns="50800" bIns="50800" rtlCol="0" anchor="ctr"/>
            <a:lstStyle/>
            <a:p>
              <a:pPr algn="ctr">
                <a:lnSpc>
                  <a:spcPts val="1919"/>
                </a:lnSpc>
              </a:pPr>
              <a:endParaRPr/>
            </a:p>
          </p:txBody>
        </p:sp>
      </p:grpSp>
      <p:sp>
        <p:nvSpPr>
          <p:cNvPr id="11" name="Freeform 11"/>
          <p:cNvSpPr/>
          <p:nvPr/>
        </p:nvSpPr>
        <p:spPr>
          <a:xfrm>
            <a:off x="467958" y="5973347"/>
            <a:ext cx="9666119" cy="4473545"/>
          </a:xfrm>
          <a:custGeom>
            <a:avLst/>
            <a:gdLst/>
            <a:ahLst/>
            <a:cxnLst/>
            <a:rect l="l" t="t" r="r" b="b"/>
            <a:pathLst>
              <a:path w="9666119" h="4473545">
                <a:moveTo>
                  <a:pt x="0" y="0"/>
                </a:moveTo>
                <a:lnTo>
                  <a:pt x="9666119" y="0"/>
                </a:lnTo>
                <a:lnTo>
                  <a:pt x="9666119" y="4473545"/>
                </a:lnTo>
                <a:lnTo>
                  <a:pt x="0" y="4473545"/>
                </a:lnTo>
                <a:lnTo>
                  <a:pt x="0" y="0"/>
                </a:lnTo>
                <a:close/>
              </a:path>
            </a:pathLst>
          </a:custGeom>
          <a:blipFill>
            <a:blip r:embed="rId2"/>
            <a:stretch>
              <a:fillRect t="-9417" b="-13520"/>
            </a:stretch>
          </a:blipFill>
        </p:spPr>
      </p:sp>
      <p:sp>
        <p:nvSpPr>
          <p:cNvPr id="12" name="Freeform 12"/>
          <p:cNvSpPr/>
          <p:nvPr/>
        </p:nvSpPr>
        <p:spPr>
          <a:xfrm>
            <a:off x="9755748" y="1194648"/>
            <a:ext cx="7693392" cy="5187872"/>
          </a:xfrm>
          <a:custGeom>
            <a:avLst/>
            <a:gdLst/>
            <a:ahLst/>
            <a:cxnLst/>
            <a:rect l="l" t="t" r="r" b="b"/>
            <a:pathLst>
              <a:path w="7693392" h="5187872">
                <a:moveTo>
                  <a:pt x="0" y="0"/>
                </a:moveTo>
                <a:lnTo>
                  <a:pt x="7693392" y="0"/>
                </a:lnTo>
                <a:lnTo>
                  <a:pt x="7693392" y="5187872"/>
                </a:lnTo>
                <a:lnTo>
                  <a:pt x="0" y="5187872"/>
                </a:lnTo>
                <a:lnTo>
                  <a:pt x="0" y="0"/>
                </a:lnTo>
                <a:close/>
              </a:path>
            </a:pathLst>
          </a:custGeom>
          <a:blipFill>
            <a:blip r:embed="rId3"/>
            <a:stretch>
              <a:fillRect t="-6434" b="-8309"/>
            </a:stretch>
          </a:blipFill>
        </p:spPr>
      </p:sp>
      <p:sp>
        <p:nvSpPr>
          <p:cNvPr id="13" name="Freeform 13"/>
          <p:cNvSpPr/>
          <p:nvPr/>
        </p:nvSpPr>
        <p:spPr>
          <a:xfrm>
            <a:off x="-156330" y="1194648"/>
            <a:ext cx="9912078" cy="3948852"/>
          </a:xfrm>
          <a:custGeom>
            <a:avLst/>
            <a:gdLst/>
            <a:ahLst/>
            <a:cxnLst/>
            <a:rect l="l" t="t" r="r" b="b"/>
            <a:pathLst>
              <a:path w="9912078" h="3948852">
                <a:moveTo>
                  <a:pt x="0" y="0"/>
                </a:moveTo>
                <a:lnTo>
                  <a:pt x="9912078" y="0"/>
                </a:lnTo>
                <a:lnTo>
                  <a:pt x="9912078" y="3948852"/>
                </a:lnTo>
                <a:lnTo>
                  <a:pt x="0" y="3948852"/>
                </a:lnTo>
                <a:lnTo>
                  <a:pt x="0" y="0"/>
                </a:lnTo>
                <a:close/>
              </a:path>
            </a:pathLst>
          </a:custGeom>
          <a:blipFill>
            <a:blip r:embed="rId4"/>
            <a:stretch>
              <a:fillRect t="-9825" b="-13797"/>
            </a:stretch>
          </a:blipFill>
        </p:spPr>
      </p:sp>
      <p:sp>
        <p:nvSpPr>
          <p:cNvPr id="14" name="TextBox 14"/>
          <p:cNvSpPr txBox="1"/>
          <p:nvPr/>
        </p:nvSpPr>
        <p:spPr>
          <a:xfrm>
            <a:off x="1307893" y="662819"/>
            <a:ext cx="3667213" cy="365881"/>
          </a:xfrm>
          <a:prstGeom prst="rect">
            <a:avLst/>
          </a:prstGeom>
        </p:spPr>
        <p:txBody>
          <a:bodyPr lIns="0" tIns="0" rIns="0" bIns="0" rtlCol="0" anchor="t">
            <a:spAutoFit/>
          </a:bodyPr>
          <a:lstStyle/>
          <a:p>
            <a:pPr algn="l">
              <a:lnSpc>
                <a:spcPts val="2956"/>
              </a:lnSpc>
              <a:spcBef>
                <a:spcPct val="0"/>
              </a:spcBef>
            </a:pPr>
            <a:r>
              <a:rPr lang="en-US" sz="2346">
                <a:solidFill>
                  <a:srgbClr val="F5F7F7"/>
                </a:solidFill>
                <a:latin typeface="Ovo"/>
                <a:ea typeface="Ovo"/>
                <a:cs typeface="Ovo"/>
                <a:sym typeface="Ovo"/>
              </a:rPr>
              <a:t>5. Distribution Channels</a:t>
            </a:r>
          </a:p>
        </p:txBody>
      </p:sp>
      <p:sp>
        <p:nvSpPr>
          <p:cNvPr id="15" name="TextBox 15"/>
          <p:cNvSpPr txBox="1"/>
          <p:nvPr/>
        </p:nvSpPr>
        <p:spPr>
          <a:xfrm>
            <a:off x="9987814" y="662819"/>
            <a:ext cx="4478320" cy="365881"/>
          </a:xfrm>
          <a:prstGeom prst="rect">
            <a:avLst/>
          </a:prstGeom>
        </p:spPr>
        <p:txBody>
          <a:bodyPr lIns="0" tIns="0" rIns="0" bIns="0" rtlCol="0" anchor="t">
            <a:spAutoFit/>
          </a:bodyPr>
          <a:lstStyle/>
          <a:p>
            <a:pPr algn="l">
              <a:lnSpc>
                <a:spcPts val="2956"/>
              </a:lnSpc>
              <a:spcBef>
                <a:spcPct val="0"/>
              </a:spcBef>
            </a:pPr>
            <a:r>
              <a:rPr lang="en-US" sz="2346">
                <a:solidFill>
                  <a:srgbClr val="F5F7F7"/>
                </a:solidFill>
                <a:latin typeface="Ovo"/>
                <a:ea typeface="Ovo"/>
                <a:cs typeface="Ovo"/>
                <a:sym typeface="Ovo"/>
              </a:rPr>
              <a:t>6. Cost Structure</a:t>
            </a:r>
          </a:p>
        </p:txBody>
      </p:sp>
      <p:sp>
        <p:nvSpPr>
          <p:cNvPr id="16" name="TextBox 16"/>
          <p:cNvSpPr txBox="1"/>
          <p:nvPr/>
        </p:nvSpPr>
        <p:spPr>
          <a:xfrm>
            <a:off x="1307893" y="5286375"/>
            <a:ext cx="4478320" cy="365881"/>
          </a:xfrm>
          <a:prstGeom prst="rect">
            <a:avLst/>
          </a:prstGeom>
        </p:spPr>
        <p:txBody>
          <a:bodyPr lIns="0" tIns="0" rIns="0" bIns="0" rtlCol="0" anchor="t">
            <a:spAutoFit/>
          </a:bodyPr>
          <a:lstStyle/>
          <a:p>
            <a:pPr algn="l">
              <a:lnSpc>
                <a:spcPts val="2956"/>
              </a:lnSpc>
              <a:spcBef>
                <a:spcPct val="0"/>
              </a:spcBef>
            </a:pPr>
            <a:r>
              <a:rPr lang="en-US" sz="2346">
                <a:solidFill>
                  <a:srgbClr val="F5F7F7"/>
                </a:solidFill>
                <a:latin typeface="Ovo"/>
                <a:ea typeface="Ovo"/>
                <a:cs typeface="Ovo"/>
                <a:sym typeface="Ovo"/>
              </a:rPr>
              <a:t>7. Financial Projection (Example)</a:t>
            </a:r>
          </a:p>
        </p:txBody>
      </p:sp>
      <p:sp>
        <p:nvSpPr>
          <p:cNvPr id="17" name="TextBox 17"/>
          <p:cNvSpPr txBox="1"/>
          <p:nvPr/>
        </p:nvSpPr>
        <p:spPr>
          <a:xfrm>
            <a:off x="9987814" y="7657670"/>
            <a:ext cx="7814924" cy="1095375"/>
          </a:xfrm>
          <a:prstGeom prst="rect">
            <a:avLst/>
          </a:prstGeom>
        </p:spPr>
        <p:txBody>
          <a:bodyPr lIns="0" tIns="0" rIns="0" bIns="0" rtlCol="0" anchor="t">
            <a:spAutoFit/>
          </a:bodyPr>
          <a:lstStyle/>
          <a:p>
            <a:pPr algn="ctr">
              <a:lnSpc>
                <a:spcPts val="2879"/>
              </a:lnSpc>
              <a:spcBef>
                <a:spcPct val="0"/>
              </a:spcBef>
            </a:pPr>
            <a:r>
              <a:rPr lang="en-US" sz="2399">
                <a:solidFill>
                  <a:srgbClr val="F5F7F7"/>
                </a:solidFill>
                <a:latin typeface="Ovo"/>
                <a:ea typeface="Ovo"/>
                <a:cs typeface="Ovo"/>
                <a:sym typeface="Ovo"/>
              </a:rPr>
              <a:t>“Can be deployed as a Samsung accessibility feature or SmartThings companion app, expanding Samsung’s inclusive technology offerings for differently-abled users.”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E2024"/>
        </a:solidFill>
        <a:effectLst/>
      </p:bgPr>
    </p:bg>
    <p:spTree>
      <p:nvGrpSpPr>
        <p:cNvPr id="1" name=""/>
        <p:cNvGrpSpPr/>
        <p:nvPr/>
      </p:nvGrpSpPr>
      <p:grpSpPr>
        <a:xfrm>
          <a:off x="0" y="0"/>
          <a:ext cx="0" cy="0"/>
          <a:chOff x="0" y="0"/>
          <a:chExt cx="0" cy="0"/>
        </a:xfrm>
      </p:grpSpPr>
      <p:grpSp>
        <p:nvGrpSpPr>
          <p:cNvPr id="2" name="Group 2"/>
          <p:cNvGrpSpPr/>
          <p:nvPr/>
        </p:nvGrpSpPr>
        <p:grpSpPr>
          <a:xfrm>
            <a:off x="17802738" y="1654020"/>
            <a:ext cx="1315151" cy="131515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66675" cap="sq">
              <a:solidFill>
                <a:srgbClr val="FFE953"/>
              </a:solidFill>
              <a:prstDash val="solid"/>
              <a:miter/>
            </a:ln>
          </p:spPr>
        </p:sp>
        <p:sp>
          <p:nvSpPr>
            <p:cNvPr id="4" name="TextBox 4"/>
            <p:cNvSpPr txBox="1"/>
            <p:nvPr/>
          </p:nvSpPr>
          <p:spPr>
            <a:xfrm>
              <a:off x="76200" y="66675"/>
              <a:ext cx="660400" cy="669925"/>
            </a:xfrm>
            <a:prstGeom prst="rect">
              <a:avLst/>
            </a:prstGeom>
          </p:spPr>
          <p:txBody>
            <a:bodyPr lIns="50800" tIns="50800" rIns="50800" bIns="50800" rtlCol="0" anchor="ctr"/>
            <a:lstStyle/>
            <a:p>
              <a:pPr marL="0" lvl="0" indent="0" algn="ctr">
                <a:lnSpc>
                  <a:spcPts val="1919"/>
                </a:lnSpc>
                <a:spcBef>
                  <a:spcPct val="0"/>
                </a:spcBef>
              </a:pPr>
              <a:endParaRPr/>
            </a:p>
          </p:txBody>
        </p:sp>
      </p:grpSp>
      <p:grpSp>
        <p:nvGrpSpPr>
          <p:cNvPr id="5" name="Group 5"/>
          <p:cNvGrpSpPr/>
          <p:nvPr/>
        </p:nvGrpSpPr>
        <p:grpSpPr>
          <a:xfrm>
            <a:off x="-813906" y="5973347"/>
            <a:ext cx="1315151" cy="131515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66675" cap="sq">
              <a:solidFill>
                <a:srgbClr val="FFE953"/>
              </a:solidFill>
              <a:prstDash val="solid"/>
              <a:miter/>
            </a:ln>
          </p:spPr>
        </p:sp>
        <p:sp>
          <p:nvSpPr>
            <p:cNvPr id="7" name="TextBox 7"/>
            <p:cNvSpPr txBox="1"/>
            <p:nvPr/>
          </p:nvSpPr>
          <p:spPr>
            <a:xfrm>
              <a:off x="76200" y="66675"/>
              <a:ext cx="660400" cy="669925"/>
            </a:xfrm>
            <a:prstGeom prst="rect">
              <a:avLst/>
            </a:prstGeom>
          </p:spPr>
          <p:txBody>
            <a:bodyPr lIns="50800" tIns="50800" rIns="50800" bIns="50800" rtlCol="0" anchor="ctr"/>
            <a:lstStyle/>
            <a:p>
              <a:pPr marL="0" lvl="0" indent="0" algn="ctr">
                <a:lnSpc>
                  <a:spcPts val="1919"/>
                </a:lnSpc>
                <a:spcBef>
                  <a:spcPct val="0"/>
                </a:spcBef>
              </a:pPr>
              <a:endParaRPr/>
            </a:p>
          </p:txBody>
        </p:sp>
      </p:grpSp>
      <p:grpSp>
        <p:nvGrpSpPr>
          <p:cNvPr id="8" name="Group 8"/>
          <p:cNvGrpSpPr/>
          <p:nvPr/>
        </p:nvGrpSpPr>
        <p:grpSpPr>
          <a:xfrm>
            <a:off x="818836" y="9629424"/>
            <a:ext cx="1315151" cy="1315151"/>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EE9E9"/>
            </a:solidFill>
          </p:spPr>
        </p:sp>
        <p:sp>
          <p:nvSpPr>
            <p:cNvPr id="10" name="TextBox 10"/>
            <p:cNvSpPr txBox="1"/>
            <p:nvPr/>
          </p:nvSpPr>
          <p:spPr>
            <a:xfrm>
              <a:off x="76200" y="66675"/>
              <a:ext cx="660400" cy="669925"/>
            </a:xfrm>
            <a:prstGeom prst="rect">
              <a:avLst/>
            </a:prstGeom>
          </p:spPr>
          <p:txBody>
            <a:bodyPr lIns="50800" tIns="50800" rIns="50800" bIns="50800" rtlCol="0" anchor="ctr"/>
            <a:lstStyle/>
            <a:p>
              <a:pPr algn="ctr">
                <a:lnSpc>
                  <a:spcPts val="1919"/>
                </a:lnSpc>
              </a:pPr>
              <a:endParaRPr/>
            </a:p>
          </p:txBody>
        </p:sp>
      </p:grpSp>
      <p:grpSp>
        <p:nvGrpSpPr>
          <p:cNvPr id="11" name="Group 11"/>
          <p:cNvGrpSpPr/>
          <p:nvPr/>
        </p:nvGrpSpPr>
        <p:grpSpPr>
          <a:xfrm>
            <a:off x="-496315" y="9258300"/>
            <a:ext cx="1315151" cy="1315151"/>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EE9E9"/>
            </a:solidFill>
          </p:spPr>
        </p:sp>
        <p:sp>
          <p:nvSpPr>
            <p:cNvPr id="13" name="TextBox 13"/>
            <p:cNvSpPr txBox="1"/>
            <p:nvPr/>
          </p:nvSpPr>
          <p:spPr>
            <a:xfrm>
              <a:off x="76200" y="66675"/>
              <a:ext cx="660400" cy="669925"/>
            </a:xfrm>
            <a:prstGeom prst="rect">
              <a:avLst/>
            </a:prstGeom>
          </p:spPr>
          <p:txBody>
            <a:bodyPr lIns="50800" tIns="50800" rIns="50800" bIns="50800" rtlCol="0" anchor="ctr"/>
            <a:lstStyle/>
            <a:p>
              <a:pPr algn="ctr">
                <a:lnSpc>
                  <a:spcPts val="1919"/>
                </a:lnSpc>
              </a:pPr>
              <a:endParaRPr/>
            </a:p>
          </p:txBody>
        </p:sp>
      </p:grpSp>
      <p:sp>
        <p:nvSpPr>
          <p:cNvPr id="14" name="TextBox 14"/>
          <p:cNvSpPr txBox="1"/>
          <p:nvPr/>
        </p:nvSpPr>
        <p:spPr>
          <a:xfrm>
            <a:off x="1476412" y="2292546"/>
            <a:ext cx="6643850" cy="5471875"/>
          </a:xfrm>
          <a:prstGeom prst="rect">
            <a:avLst/>
          </a:prstGeom>
        </p:spPr>
        <p:txBody>
          <a:bodyPr lIns="0" tIns="0" rIns="0" bIns="0" rtlCol="0" anchor="t">
            <a:spAutoFit/>
          </a:bodyPr>
          <a:lstStyle/>
          <a:p>
            <a:pPr algn="l">
              <a:lnSpc>
                <a:spcPts val="2956"/>
              </a:lnSpc>
            </a:pPr>
            <a:r>
              <a:rPr lang="en-US" sz="2346">
                <a:solidFill>
                  <a:srgbClr val="F5F7F7"/>
                </a:solidFill>
                <a:latin typeface="Ovo"/>
                <a:ea typeface="Ovo"/>
                <a:cs typeface="Ovo"/>
                <a:sym typeface="Ovo"/>
              </a:rPr>
              <a:t>The proposed real-time object detection and speech feedback system empowers visually impaired individuals to navigate safely and independently through intelligent object recognition, spatial awareness, and voice guidance.</a:t>
            </a:r>
          </a:p>
          <a:p>
            <a:pPr algn="l">
              <a:lnSpc>
                <a:spcPts val="2956"/>
              </a:lnSpc>
            </a:pPr>
            <a:r>
              <a:rPr lang="en-US" sz="2346">
                <a:solidFill>
                  <a:srgbClr val="F5F7F7"/>
                </a:solidFill>
                <a:latin typeface="Ovo"/>
                <a:ea typeface="Ovo"/>
                <a:cs typeface="Ovo"/>
                <a:sym typeface="Ovo"/>
              </a:rPr>
              <a:t>It is cost-effective, portable, and user-friendly, making it a strong alternative to existing assistive technologies.</a:t>
            </a:r>
          </a:p>
          <a:p>
            <a:pPr algn="l">
              <a:lnSpc>
                <a:spcPts val="2956"/>
              </a:lnSpc>
            </a:pPr>
            <a:r>
              <a:rPr lang="en-US" sz="2346">
                <a:solidFill>
                  <a:srgbClr val="F5F7F7"/>
                </a:solidFill>
                <a:latin typeface="Ovo"/>
                <a:ea typeface="Ovo"/>
                <a:cs typeface="Ovo"/>
                <a:sym typeface="Ovo"/>
              </a:rPr>
              <a:t>By leveraging Samsung’s AI hardware, SmartThings connectivity, and Bixby voice technology, the solution aligns with Samsung’s vision of “Technology for Humanity,” enabling greater independence, confidence, and inclusivity for visually impaired users.</a:t>
            </a:r>
          </a:p>
          <a:p>
            <a:pPr marL="0" lvl="0" indent="0" algn="l">
              <a:lnSpc>
                <a:spcPts val="2956"/>
              </a:lnSpc>
              <a:spcBef>
                <a:spcPct val="0"/>
              </a:spcBef>
            </a:pPr>
            <a:endParaRPr lang="en-US" sz="2346">
              <a:solidFill>
                <a:srgbClr val="F5F7F7"/>
              </a:solidFill>
              <a:latin typeface="Ovo"/>
              <a:ea typeface="Ovo"/>
              <a:cs typeface="Ovo"/>
              <a:sym typeface="Ovo"/>
            </a:endParaRPr>
          </a:p>
        </p:txBody>
      </p:sp>
      <p:sp>
        <p:nvSpPr>
          <p:cNvPr id="15" name="TextBox 15"/>
          <p:cNvSpPr txBox="1"/>
          <p:nvPr/>
        </p:nvSpPr>
        <p:spPr>
          <a:xfrm>
            <a:off x="1476412" y="989564"/>
            <a:ext cx="5986274" cy="664456"/>
          </a:xfrm>
          <a:prstGeom prst="rect">
            <a:avLst/>
          </a:prstGeom>
        </p:spPr>
        <p:txBody>
          <a:bodyPr lIns="0" tIns="0" rIns="0" bIns="0" rtlCol="0" anchor="t">
            <a:spAutoFit/>
          </a:bodyPr>
          <a:lstStyle/>
          <a:p>
            <a:pPr marL="0" lvl="0" indent="0" algn="l">
              <a:lnSpc>
                <a:spcPts val="5086"/>
              </a:lnSpc>
              <a:spcBef>
                <a:spcPct val="0"/>
              </a:spcBef>
            </a:pPr>
            <a:r>
              <a:rPr lang="en-US" sz="5036" b="1">
                <a:solidFill>
                  <a:srgbClr val="F5F7F7"/>
                </a:solidFill>
                <a:latin typeface="Garet Bold"/>
                <a:ea typeface="Garet Bold"/>
                <a:cs typeface="Garet Bold"/>
                <a:sym typeface="Garet Bold"/>
              </a:rPr>
              <a:t>CONCLUSION</a:t>
            </a:r>
          </a:p>
        </p:txBody>
      </p:sp>
      <p:sp>
        <p:nvSpPr>
          <p:cNvPr id="16" name="Freeform 16"/>
          <p:cNvSpPr/>
          <p:nvPr/>
        </p:nvSpPr>
        <p:spPr>
          <a:xfrm>
            <a:off x="8576664" y="2311596"/>
            <a:ext cx="9226074" cy="4811817"/>
          </a:xfrm>
          <a:custGeom>
            <a:avLst/>
            <a:gdLst/>
            <a:ahLst/>
            <a:cxnLst/>
            <a:rect l="l" t="t" r="r" b="b"/>
            <a:pathLst>
              <a:path w="9226074" h="4811817">
                <a:moveTo>
                  <a:pt x="0" y="0"/>
                </a:moveTo>
                <a:lnTo>
                  <a:pt x="9226074" y="0"/>
                </a:lnTo>
                <a:lnTo>
                  <a:pt x="9226074" y="4811816"/>
                </a:lnTo>
                <a:lnTo>
                  <a:pt x="0" y="4811816"/>
                </a:lnTo>
                <a:lnTo>
                  <a:pt x="0" y="0"/>
                </a:lnTo>
                <a:close/>
              </a:path>
            </a:pathLst>
          </a:custGeom>
          <a:blipFill>
            <a:blip r:embed="rId2"/>
            <a:stretch>
              <a:fillRect t="-23479" r="-204" b="-8609"/>
            </a:stretch>
          </a:blipFill>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E2024"/>
        </a:solidFill>
        <a:effectLst/>
      </p:bgPr>
    </p:bg>
    <p:spTree>
      <p:nvGrpSpPr>
        <p:cNvPr id="1" name=""/>
        <p:cNvGrpSpPr/>
        <p:nvPr/>
      </p:nvGrpSpPr>
      <p:grpSpPr>
        <a:xfrm>
          <a:off x="0" y="0"/>
          <a:ext cx="0" cy="0"/>
          <a:chOff x="0" y="0"/>
          <a:chExt cx="0" cy="0"/>
        </a:xfrm>
      </p:grpSpPr>
      <p:sp>
        <p:nvSpPr>
          <p:cNvPr id="2" name="TextBox 2"/>
          <p:cNvSpPr txBox="1"/>
          <p:nvPr/>
        </p:nvSpPr>
        <p:spPr>
          <a:xfrm>
            <a:off x="4527232" y="3634943"/>
            <a:ext cx="9233535" cy="2314575"/>
          </a:xfrm>
          <a:prstGeom prst="rect">
            <a:avLst/>
          </a:prstGeom>
        </p:spPr>
        <p:txBody>
          <a:bodyPr lIns="0" tIns="0" rIns="0" bIns="0" rtlCol="0" anchor="t">
            <a:spAutoFit/>
          </a:bodyPr>
          <a:lstStyle/>
          <a:p>
            <a:pPr algn="ctr">
              <a:lnSpc>
                <a:spcPts val="18237"/>
              </a:lnSpc>
              <a:spcBef>
                <a:spcPct val="0"/>
              </a:spcBef>
            </a:pPr>
            <a:r>
              <a:rPr lang="en-US" sz="15197">
                <a:solidFill>
                  <a:srgbClr val="FFFFFF"/>
                </a:solidFill>
                <a:latin typeface="Bukhari Script"/>
                <a:ea typeface="Bukhari Script"/>
                <a:cs typeface="Bukhari Script"/>
                <a:sym typeface="Bukhari Script"/>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630</Words>
  <Application>Microsoft Office PowerPoint</Application>
  <PresentationFormat>Custom</PresentationFormat>
  <Paragraphs>43</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Garet Bold</vt:lpstr>
      <vt:lpstr>Calibri</vt:lpstr>
      <vt:lpstr>Ovo</vt:lpstr>
      <vt:lpstr>Arial</vt:lpstr>
      <vt:lpstr>Bukhari Script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Chill Guys SRMIST KTR 4</dc:title>
  <cp:lastModifiedBy>Tufan Layek</cp:lastModifiedBy>
  <cp:revision>2</cp:revision>
  <dcterms:created xsi:type="dcterms:W3CDTF">2006-08-16T00:00:00Z</dcterms:created>
  <dcterms:modified xsi:type="dcterms:W3CDTF">2025-10-05T16:40:59Z</dcterms:modified>
  <dc:identifier>DAG08KLwS34</dc:identifier>
</cp:coreProperties>
</file>